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DBA0-4528-89C9-BCD9-EB534B4ED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FF1BD-71DD-4A4B-C112-1B1824617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FFBB8-BCEE-9A8C-5D89-007B4651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52B13-D581-FF6B-65F5-462D20A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C3C0C-B0F2-D36F-F5C8-83D2A58D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6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6F38-DB8C-5BC0-460E-1B791D8E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90B4-46D4-F929-62E0-51C1F2F5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E5089-D08F-42B6-1859-6431E14F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B1089-1213-CD0F-5B69-CD057618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8720-9602-9F0B-7695-A94A0204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2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EA22-59DF-2696-6ABE-439AEF2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0F25B-E4B2-8C2E-4B1B-E10C802D3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6EB1B-5E10-42BA-499D-F1719A6E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C6B52-0D07-F356-F0C5-A46CF584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F43A4-FEF5-622D-1729-7BBF68F7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15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2B838-250B-75ED-0B77-6DE7C937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8AC6-2DC7-CFC4-00C7-834F7E4AF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AE3F4-6D48-15E5-C36D-E04F5CE2E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BCCB3-22C1-2115-2A13-6062593F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0517-E261-10A0-CE2C-19256BBDB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1E17A-D49D-E603-2017-530B052D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6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C340-2556-B333-E776-87F35B68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5A054-BF14-64A3-3339-2B54739F3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427C9-A792-79B0-740F-56ED753DC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5851C-3B08-56A2-B120-A26170435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32FAD-4169-08AD-AEE1-8920E7CA7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7D73A-A331-7642-349C-A5DE3F21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C1349-E96A-B4CB-5883-9F6FDD9D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F7A80-705E-1171-898E-B2CDD45F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3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42137-5703-4175-DB4D-EB33AF47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D1EBF-A2B2-8700-5E3F-6BEE8EC0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BB1B6-20F2-CB32-BDED-C49A830D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4903A-76A2-F432-BB32-E41B32C4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1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DF3F7-AD91-111B-27BC-88168EBF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2C381-EFA9-9D83-20DE-6B8FAC22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0B757-1E63-14C0-EF62-A7578B14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BBAF-1FCC-F534-CEAE-062DBD97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77EB-428D-4922-1425-B6B5D2F3F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54ACF-3D95-EEA2-477D-9E9CDF5C5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F878E-ABAF-5064-C103-31C3BE5A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7400B-5CDF-BD07-06B0-C4CFAA55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71959-334F-AFD5-EF37-EAB90EFB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464C-B1B3-AC0A-A0E2-3164C0B12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62907-6261-73EC-3C5D-D07D2D8B2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D3740-D52B-A908-FA24-C061E2FF8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52C06-EB20-90F9-598C-50C72FB4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50567-000F-4963-C09E-841405E1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C052C-0FE6-EB43-265A-AEA822AF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8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C95F-C2AF-9D8A-7AF3-CAF84ABD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4F7CD-37D2-D8D2-BD76-943477ACE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CAA8-4828-D4EC-C85F-D49CAAA0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28AA1-ACA7-999B-5E97-7128114F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5AE97-573B-B860-C60C-1C89C0B2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8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6BCEC4-9882-D8F2-290D-E475A6D83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F503B-C5B2-8035-2DE1-A248CC480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C8F44-EE5E-B654-BD1E-050AEF36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CE0E0-003D-C091-2A7D-3A9054D2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8AE1-5AC8-6573-5370-F63B8591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9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389E5-4058-115C-572E-3915C6ED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DCEAA-889D-870E-A52C-13A92D85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4D3C-5CE8-8E06-1E7F-AB67B15C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3EE9A-9CCB-4288-8281-4C3576A19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CB790-4888-F0D3-0679-C8030305A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0EE8B-E717-4B9C-500D-69D3537B5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DBAF3-2DEB-451B-9FEA-A9707AC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4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80587-8D0E-8D21-BFA5-74D0870B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2C942F-9171-5DE1-877F-9F4094E82632}"/>
              </a:ext>
            </a:extLst>
          </p:cNvPr>
          <p:cNvSpPr txBox="1"/>
          <p:nvPr/>
        </p:nvSpPr>
        <p:spPr>
          <a:xfrm>
            <a:off x="3048730" y="63148"/>
            <a:ext cx="6353738" cy="76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Vinque" panose="020E0603000000020003" pitchFamily="34" charset="0"/>
              </a:rPr>
              <a:t>SIEGE OF DIRIYAH</a:t>
            </a:r>
          </a:p>
          <a:p>
            <a:pPr algn="ctr"/>
            <a:r>
              <a:rPr lang="en-US" sz="1400" dirty="0">
                <a:latin typeface="Vinque" panose="020E0603000000020003" pitchFamily="34" charset="0"/>
              </a:rPr>
              <a:t> COMMAND POINT (CP)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9FF0A9-BCFC-930B-B8AC-659604295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34670"/>
              </p:ext>
            </p:extLst>
          </p:nvPr>
        </p:nvGraphicFramePr>
        <p:xfrm>
          <a:off x="1826559" y="830730"/>
          <a:ext cx="9543190" cy="5036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483">
                  <a:extLst>
                    <a:ext uri="{9D8B030D-6E8A-4147-A177-3AD203B41FA5}">
                      <a16:colId xmlns:a16="http://schemas.microsoft.com/office/drawing/2014/main" val="4278384525"/>
                    </a:ext>
                  </a:extLst>
                </a:gridCol>
                <a:gridCol w="2346251">
                  <a:extLst>
                    <a:ext uri="{9D8B030D-6E8A-4147-A177-3AD203B41FA5}">
                      <a16:colId xmlns:a16="http://schemas.microsoft.com/office/drawing/2014/main" val="1255239430"/>
                    </a:ext>
                  </a:extLst>
                </a:gridCol>
                <a:gridCol w="5330456">
                  <a:extLst>
                    <a:ext uri="{9D8B030D-6E8A-4147-A177-3AD203B41FA5}">
                      <a16:colId xmlns:a16="http://schemas.microsoft.com/office/drawing/2014/main" val="1585304879"/>
                    </a:ext>
                  </a:extLst>
                </a:gridCol>
              </a:tblGrid>
              <a:tr h="3643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ACTION</a:t>
                      </a: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CP COST</a:t>
                      </a: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EFFECT</a:t>
                      </a:r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28376968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SUPPLY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SUPPLY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SUPPLY BY PURCHASED AMOUNT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30168136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MORALE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MORALE POINT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MORALE BY PURCHASED AMOUNT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16829458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ARTILLERY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 CP PER ARTILLERY POINT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ARTILLERY MARKERS TO MAP OR RESERVE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1377813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INFANTRY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CP PER INFANTRY POINT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INFANTRY MARKERS TO MAP OR RESERVE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3560765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COMMAND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CP PER LEADER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LEADER TO MAP OR RESERVE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16658475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FORTIFICATIONS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SIEGE LEVEL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SIEGE LEVEL OF SPACE (UP TO MAX 4)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36300314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TRENCHES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TRENCH MARKER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TRENCH MARKER TO ANY SPACE (1 PER SPACE)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343951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COUNTER-MINING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CP PER 2 MARKERS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PLACE IN RESERVE; DEPLOY WHEN NEEDED</a:t>
                      </a:r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33312816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BREACH REPAIR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 CP PER MARKER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PLACE IN RESERVE; DEPLOY WHEN NEEDED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1408723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COUNTER-TUNNELING</a:t>
                      </a:r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 CP PER 2 MARKERS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PLACE IN RESERVE; DEPLOY WHEN NEEDED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/>
                </a:tc>
                <a:extLst>
                  <a:ext uri="{0D108BD9-81ED-4DB2-BD59-A6C34878D82A}">
                    <a16:rowId xmlns:a16="http://schemas.microsoft.com/office/drawing/2014/main" val="190078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89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147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Vinque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Richardson</dc:creator>
  <cp:lastModifiedBy>Mike Richardson</cp:lastModifiedBy>
  <cp:revision>1</cp:revision>
  <dcterms:created xsi:type="dcterms:W3CDTF">2026-06-10T15:04:09Z</dcterms:created>
  <dcterms:modified xsi:type="dcterms:W3CDTF">2026-06-10T20:05:54Z</dcterms:modified>
</cp:coreProperties>
</file>
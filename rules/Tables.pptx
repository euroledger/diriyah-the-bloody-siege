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1" r:id="rId3"/>
    <p:sldId id="260" r:id="rId4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2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2" autoAdjust="0"/>
    <p:restoredTop sz="94660"/>
  </p:normalViewPr>
  <p:slideViewPr>
    <p:cSldViewPr>
      <p:cViewPr varScale="1">
        <p:scale>
          <a:sx n="80" d="100"/>
          <a:sy n="80" d="100"/>
        </p:scale>
        <p:origin x="996" y="56"/>
      </p:cViewPr>
      <p:guideLst>
        <p:guide orient="horz" pos="2225"/>
        <p:guide pos="27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591663">
        <a:defRPr>
          <a:latin typeface="+mn-lt"/>
          <a:ea typeface="+mn-ea"/>
          <a:cs typeface="+mn-cs"/>
        </a:defRPr>
      </a:lvl2pPr>
      <a:lvl3pPr marL="1183325">
        <a:defRPr>
          <a:latin typeface="+mn-lt"/>
          <a:ea typeface="+mn-ea"/>
          <a:cs typeface="+mn-cs"/>
        </a:defRPr>
      </a:lvl3pPr>
      <a:lvl4pPr marL="1774988">
        <a:defRPr>
          <a:latin typeface="+mn-lt"/>
          <a:ea typeface="+mn-ea"/>
          <a:cs typeface="+mn-cs"/>
        </a:defRPr>
      </a:lvl4pPr>
      <a:lvl5pPr marL="2366650">
        <a:defRPr>
          <a:latin typeface="+mn-lt"/>
          <a:ea typeface="+mn-ea"/>
          <a:cs typeface="+mn-cs"/>
        </a:defRPr>
      </a:lvl5pPr>
      <a:lvl6pPr marL="2958313">
        <a:defRPr>
          <a:latin typeface="+mn-lt"/>
          <a:ea typeface="+mn-ea"/>
          <a:cs typeface="+mn-cs"/>
        </a:defRPr>
      </a:lvl6pPr>
      <a:lvl7pPr marL="3549975">
        <a:defRPr>
          <a:latin typeface="+mn-lt"/>
          <a:ea typeface="+mn-ea"/>
          <a:cs typeface="+mn-cs"/>
        </a:defRPr>
      </a:lvl7pPr>
      <a:lvl8pPr marL="4141638">
        <a:defRPr>
          <a:latin typeface="+mn-lt"/>
          <a:ea typeface="+mn-ea"/>
          <a:cs typeface="+mn-cs"/>
        </a:defRPr>
      </a:lvl8pPr>
      <a:lvl9pPr marL="47333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591663">
        <a:defRPr>
          <a:latin typeface="+mn-lt"/>
          <a:ea typeface="+mn-ea"/>
          <a:cs typeface="+mn-cs"/>
        </a:defRPr>
      </a:lvl2pPr>
      <a:lvl3pPr marL="1183325">
        <a:defRPr>
          <a:latin typeface="+mn-lt"/>
          <a:ea typeface="+mn-ea"/>
          <a:cs typeface="+mn-cs"/>
        </a:defRPr>
      </a:lvl3pPr>
      <a:lvl4pPr marL="1774988">
        <a:defRPr>
          <a:latin typeface="+mn-lt"/>
          <a:ea typeface="+mn-ea"/>
          <a:cs typeface="+mn-cs"/>
        </a:defRPr>
      </a:lvl4pPr>
      <a:lvl5pPr marL="2366650">
        <a:defRPr>
          <a:latin typeface="+mn-lt"/>
          <a:ea typeface="+mn-ea"/>
          <a:cs typeface="+mn-cs"/>
        </a:defRPr>
      </a:lvl5pPr>
      <a:lvl6pPr marL="2958313">
        <a:defRPr>
          <a:latin typeface="+mn-lt"/>
          <a:ea typeface="+mn-ea"/>
          <a:cs typeface="+mn-cs"/>
        </a:defRPr>
      </a:lvl6pPr>
      <a:lvl7pPr marL="3549975">
        <a:defRPr>
          <a:latin typeface="+mn-lt"/>
          <a:ea typeface="+mn-ea"/>
          <a:cs typeface="+mn-cs"/>
        </a:defRPr>
      </a:lvl7pPr>
      <a:lvl8pPr marL="4141638">
        <a:defRPr>
          <a:latin typeface="+mn-lt"/>
          <a:ea typeface="+mn-ea"/>
          <a:cs typeface="+mn-cs"/>
        </a:defRPr>
      </a:lvl8pPr>
      <a:lvl9pPr marL="47333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 l="-41000" r="-4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241DA3-3300-BB5F-8C38-700492E2E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6A62F0A-9384-9132-C898-F6594A5E5EFE}"/>
              </a:ext>
            </a:extLst>
          </p:cNvPr>
          <p:cNvSpPr txBox="1"/>
          <p:nvPr/>
        </p:nvSpPr>
        <p:spPr>
          <a:xfrm>
            <a:off x="1638297" y="152400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Vinque" panose="020E0603000000020003" pitchFamily="34" charset="0"/>
              </a:rPr>
              <a:t>DIRIYAH the bloody siege</a:t>
            </a:r>
          </a:p>
          <a:p>
            <a:r>
              <a:rPr lang="en-US" dirty="0">
                <a:latin typeface="Vinque" panose="020E0603000000020003" pitchFamily="34" charset="0"/>
              </a:rPr>
              <a:t> </a:t>
            </a:r>
          </a:p>
          <a:p>
            <a:pPr algn="ctr"/>
            <a:r>
              <a:rPr lang="en-US" dirty="0">
                <a:latin typeface="Vinque" panose="020E0603000000020003" pitchFamily="34" charset="0"/>
              </a:rPr>
              <a:t>BATTLE TABLE : HEJAZ CAMPAIGN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051BD7-3B0D-BA67-9FEE-4030A6A710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183857"/>
              </p:ext>
            </p:extLst>
          </p:nvPr>
        </p:nvGraphicFramePr>
        <p:xfrm>
          <a:off x="803311" y="1770704"/>
          <a:ext cx="8839205" cy="3180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23">
                  <a:extLst>
                    <a:ext uri="{9D8B030D-6E8A-4147-A177-3AD203B41FA5}">
                      <a16:colId xmlns:a16="http://schemas.microsoft.com/office/drawing/2014/main" val="1493825472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3772551564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4278384525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255239430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58530487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4074337856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12587640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649775250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311078378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995481297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176135212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293544296"/>
                    </a:ext>
                  </a:extLst>
                </a:gridCol>
              </a:tblGrid>
              <a:tr h="46143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69681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659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847599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93667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7623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0314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8456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8CCC5CB-ACCE-E00E-33B9-A7607A616593}"/>
              </a:ext>
            </a:extLst>
          </p:cNvPr>
          <p:cNvSpPr txBox="1"/>
          <p:nvPr/>
        </p:nvSpPr>
        <p:spPr>
          <a:xfrm>
            <a:off x="4112261" y="1455428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Strength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B438CB-31BE-11F3-3301-D978937E6882}"/>
              </a:ext>
            </a:extLst>
          </p:cNvPr>
          <p:cNvSpPr txBox="1"/>
          <p:nvPr/>
        </p:nvSpPr>
        <p:spPr>
          <a:xfrm>
            <a:off x="84608" y="3460654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Die Roll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151E-8CE2-94BC-A139-44D40CFCE5E2}"/>
              </a:ext>
            </a:extLst>
          </p:cNvPr>
          <p:cNvSpPr txBox="1"/>
          <p:nvPr/>
        </p:nvSpPr>
        <p:spPr>
          <a:xfrm>
            <a:off x="2174913" y="4724400"/>
            <a:ext cx="6096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inque" panose="020E0603000000020003" pitchFamily="34" charset="0"/>
              </a:rPr>
              <a:t> </a:t>
            </a:r>
          </a:p>
          <a:p>
            <a:pPr algn="ctr"/>
            <a:r>
              <a:rPr lang="en-US" sz="1400" b="1" dirty="0">
                <a:latin typeface="Berkeley Book" panose="02020500000000000000" pitchFamily="18" charset="0"/>
              </a:rPr>
              <a:t>COLUMN SHIFTS: OTTOMAN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Artillery and Engineers in same attack (1 shift per artillery unit)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2 left: Supply Lines </a:t>
            </a:r>
            <a:r>
              <a:rPr lang="en-US" sz="1200" b="1" dirty="0">
                <a:latin typeface="Berkeley Book" panose="02020500000000000000" pitchFamily="18" charset="0"/>
              </a:rPr>
              <a:t>THREATENED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Cavalry vs No Tribal Fighters</a:t>
            </a:r>
          </a:p>
          <a:p>
            <a:pPr algn="l"/>
            <a:endParaRPr lang="en-US" dirty="0">
              <a:latin typeface="Berkeley Book" panose="02020500000000000000" pitchFamily="18" charset="0"/>
            </a:endParaRPr>
          </a:p>
          <a:p>
            <a:pPr algn="ctr"/>
            <a:r>
              <a:rPr lang="en-US" sz="1400" b="1" dirty="0">
                <a:latin typeface="Berkeley Book" panose="02020500000000000000" pitchFamily="18" charset="0"/>
              </a:rPr>
              <a:t>COLUMN SHIFTS: WAHHABI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left: Morale &lt;= 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Morale &gt;= 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Berkeley Book" panose="02020500000000000000" pitchFamily="18" charset="0"/>
              </a:rPr>
              <a:t>3 right: Defending Mountain Pass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Berkeley Book" panose="02020500000000000000" pitchFamily="18" charset="0"/>
              </a:rPr>
              <a:t>2 left: Supply Lines THREATENED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Berkeley Book" panose="02020500000000000000" pitchFamily="18" charset="0"/>
              </a:rPr>
              <a:t>2 left: Sharif Defects event</a:t>
            </a:r>
            <a:endParaRPr lang="en-US" sz="1200" dirty="0">
              <a:latin typeface="Berkeley Book" panose="02020500000000000000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Vinque" panose="020E060300000002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964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 l="-41000" r="-4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18B2DD-1D77-2D99-5CD6-8C839CD19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B39524B-5DB3-7CFA-84C4-5AEA2A992698}"/>
              </a:ext>
            </a:extLst>
          </p:cNvPr>
          <p:cNvSpPr txBox="1"/>
          <p:nvPr/>
        </p:nvSpPr>
        <p:spPr>
          <a:xfrm>
            <a:off x="1638297" y="152400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Vinque" panose="020E0603000000020003" pitchFamily="34" charset="0"/>
              </a:rPr>
              <a:t>DIRIYAH the bloody siege</a:t>
            </a:r>
          </a:p>
          <a:p>
            <a:r>
              <a:rPr lang="en-US" dirty="0">
                <a:latin typeface="Vinque" panose="020E0603000000020003" pitchFamily="34" charset="0"/>
              </a:rPr>
              <a:t> </a:t>
            </a:r>
          </a:p>
          <a:p>
            <a:pPr algn="ctr"/>
            <a:r>
              <a:rPr lang="en-US" dirty="0">
                <a:latin typeface="Vinque" panose="020E0603000000020003" pitchFamily="34" charset="0"/>
              </a:rPr>
              <a:t>BATTLE TABLE: NAJD CAMPAIGN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4EED5F1-40C8-EBA1-7C77-F687FA889B5D}"/>
              </a:ext>
            </a:extLst>
          </p:cNvPr>
          <p:cNvGraphicFramePr>
            <a:graphicFrameLocks noGrp="1"/>
          </p:cNvGraphicFramePr>
          <p:nvPr/>
        </p:nvGraphicFramePr>
        <p:xfrm>
          <a:off x="803311" y="1770704"/>
          <a:ext cx="8839205" cy="3180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23">
                  <a:extLst>
                    <a:ext uri="{9D8B030D-6E8A-4147-A177-3AD203B41FA5}">
                      <a16:colId xmlns:a16="http://schemas.microsoft.com/office/drawing/2014/main" val="1493825472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3772551564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4278384525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255239430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58530487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4074337856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12587640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649775250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311078378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995481297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2176135212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293544296"/>
                    </a:ext>
                  </a:extLst>
                </a:gridCol>
              </a:tblGrid>
              <a:tr h="46143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69681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659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847599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93667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7623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0314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8456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C4E17FC-822C-B404-4979-FEC13755CECC}"/>
              </a:ext>
            </a:extLst>
          </p:cNvPr>
          <p:cNvSpPr txBox="1"/>
          <p:nvPr/>
        </p:nvSpPr>
        <p:spPr>
          <a:xfrm>
            <a:off x="4112261" y="1455428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Strength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2B1DD5-A122-95E2-0C96-C610DDC401D3}"/>
              </a:ext>
            </a:extLst>
          </p:cNvPr>
          <p:cNvSpPr txBox="1"/>
          <p:nvPr/>
        </p:nvSpPr>
        <p:spPr>
          <a:xfrm>
            <a:off x="84608" y="3460654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Die Roll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2EE89F-8CBD-5087-ED94-29684DC9F773}"/>
              </a:ext>
            </a:extLst>
          </p:cNvPr>
          <p:cNvSpPr txBox="1"/>
          <p:nvPr/>
        </p:nvSpPr>
        <p:spPr>
          <a:xfrm>
            <a:off x="2174913" y="4724400"/>
            <a:ext cx="6096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inque" panose="020E0603000000020003" pitchFamily="34" charset="0"/>
              </a:rPr>
              <a:t> </a:t>
            </a:r>
          </a:p>
          <a:p>
            <a:pPr algn="ctr"/>
            <a:r>
              <a:rPr lang="en-US" sz="1400" b="1" dirty="0">
                <a:latin typeface="Berkeley Book" panose="02020500000000000000" pitchFamily="18" charset="0"/>
              </a:rPr>
              <a:t>COLUMN SHIFTS: OTTOMAN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Artillery and Engineers in same attack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2 left: Supply Lines </a:t>
            </a:r>
            <a:r>
              <a:rPr lang="en-US" sz="1200" b="1" dirty="0">
                <a:latin typeface="Berkeley Book" panose="02020500000000000000" pitchFamily="18" charset="0"/>
              </a:rPr>
              <a:t>THREATENED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Cavalry vs No Tribal Fighters</a:t>
            </a:r>
          </a:p>
          <a:p>
            <a:pPr algn="l"/>
            <a:endParaRPr lang="en-US" dirty="0">
              <a:latin typeface="Berkeley Book" panose="02020500000000000000" pitchFamily="18" charset="0"/>
            </a:endParaRPr>
          </a:p>
          <a:p>
            <a:pPr algn="ctr"/>
            <a:r>
              <a:rPr lang="en-US" sz="1400" b="1" dirty="0">
                <a:latin typeface="Berkeley Book" panose="02020500000000000000" pitchFamily="18" charset="0"/>
              </a:rPr>
              <a:t>COLUMN SHIFTS: WAHHABI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left: Morale &lt;= 2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Morale &gt;= 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Supply Battle, control of </a:t>
            </a:r>
            <a:r>
              <a:rPr lang="en-GB" sz="1200" dirty="0" err="1">
                <a:latin typeface="Berkeley Book" panose="02020500000000000000" pitchFamily="18" charset="0"/>
              </a:rPr>
              <a:t>Mawiyya</a:t>
            </a:r>
            <a:r>
              <a:rPr lang="en-GB" sz="1200" dirty="0">
                <a:latin typeface="Berkeley Book" panose="02020500000000000000" pitchFamily="18" charset="0"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Berkeley Book" panose="02020500000000000000" pitchFamily="18" charset="0"/>
              </a:rPr>
              <a:t>2 right: Supply Battle, control of Unaizah/Buraidah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200" dirty="0">
                <a:latin typeface="Berkeley Book" panose="02020500000000000000" pitchFamily="18" charset="0"/>
              </a:rPr>
              <a:t>3 right: Supply Battle, control of Shaqra</a:t>
            </a:r>
          </a:p>
        </p:txBody>
      </p:sp>
    </p:spTree>
    <p:extLst>
      <p:ext uri="{BB962C8B-B14F-4D97-AF65-F5344CB8AC3E}">
        <p14:creationId xmlns:p14="http://schemas.microsoft.com/office/powerpoint/2010/main" val="1170449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2000"/>
            <a:lum/>
          </a:blip>
          <a:srcRect/>
          <a:stretch>
            <a:fillRect l="-41000" r="-4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B1CB0-3885-73A1-FD36-6380DD56F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818E5FD-66CD-D1FE-449D-6999A3E3E0CA}"/>
              </a:ext>
            </a:extLst>
          </p:cNvPr>
          <p:cNvSpPr txBox="1"/>
          <p:nvPr/>
        </p:nvSpPr>
        <p:spPr>
          <a:xfrm>
            <a:off x="1638297" y="1524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Vinque" panose="020E0603000000020003" pitchFamily="34" charset="0"/>
              </a:rPr>
              <a:t> </a:t>
            </a:r>
          </a:p>
          <a:p>
            <a:pPr algn="ctr"/>
            <a:r>
              <a:rPr lang="en-US" dirty="0">
                <a:latin typeface="Vinque" panose="020E0603000000020003" pitchFamily="34" charset="0"/>
              </a:rPr>
              <a:t>SIEGE TABLE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BADDEB0-1886-4FFF-9599-B88A6C1F3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678729"/>
              </p:ext>
            </p:extLst>
          </p:nvPr>
        </p:nvGraphicFramePr>
        <p:xfrm>
          <a:off x="1344483" y="1063665"/>
          <a:ext cx="6683625" cy="31800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523">
                  <a:extLst>
                    <a:ext uri="{9D8B030D-6E8A-4147-A177-3AD203B41FA5}">
                      <a16:colId xmlns:a16="http://schemas.microsoft.com/office/drawing/2014/main" val="1493825472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58530487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4074337856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12587640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649775250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3110783789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995481297"/>
                    </a:ext>
                  </a:extLst>
                </a:gridCol>
                <a:gridCol w="768668">
                  <a:extLst>
                    <a:ext uri="{9D8B030D-6E8A-4147-A177-3AD203B41FA5}">
                      <a16:colId xmlns:a16="http://schemas.microsoft.com/office/drawing/2014/main" val="2176135212"/>
                    </a:ext>
                  </a:extLst>
                </a:gridCol>
                <a:gridCol w="731062">
                  <a:extLst>
                    <a:ext uri="{9D8B030D-6E8A-4147-A177-3AD203B41FA5}">
                      <a16:colId xmlns:a16="http://schemas.microsoft.com/office/drawing/2014/main" val="1293544296"/>
                    </a:ext>
                  </a:extLst>
                </a:gridCol>
              </a:tblGrid>
              <a:tr h="461433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69681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7659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5847599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936678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7623"/>
                  </a:ext>
                </a:extLst>
              </a:tr>
              <a:tr h="4614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0314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48456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29604A4-A9D0-C208-BB52-D41690B07E1B}"/>
              </a:ext>
            </a:extLst>
          </p:cNvPr>
          <p:cNvSpPr txBox="1"/>
          <p:nvPr/>
        </p:nvSpPr>
        <p:spPr>
          <a:xfrm>
            <a:off x="4112261" y="800067"/>
            <a:ext cx="17027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Attacker Strength Points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B8FA13-A23F-C398-94B1-79B4555BCFB2}"/>
              </a:ext>
            </a:extLst>
          </p:cNvPr>
          <p:cNvSpPr txBox="1"/>
          <p:nvPr/>
        </p:nvSpPr>
        <p:spPr>
          <a:xfrm>
            <a:off x="637044" y="2522899"/>
            <a:ext cx="6815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Die Roll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8C85F4-7E5B-AA84-BF6C-62940B97E6D1}"/>
              </a:ext>
            </a:extLst>
          </p:cNvPr>
          <p:cNvSpPr txBox="1"/>
          <p:nvPr/>
        </p:nvSpPr>
        <p:spPr>
          <a:xfrm>
            <a:off x="2133600" y="4648200"/>
            <a:ext cx="60960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Vinque" panose="020E0603000000020003" pitchFamily="34" charset="0"/>
              </a:rPr>
              <a:t> </a:t>
            </a:r>
            <a:r>
              <a:rPr lang="en-US" dirty="0">
                <a:latin typeface="Berkeley Book" panose="02020500000000000000" pitchFamily="18" charset="0"/>
              </a:rPr>
              <a:t>results: B# - number of breaches</a:t>
            </a:r>
          </a:p>
          <a:p>
            <a:pPr algn="ctr"/>
            <a:endParaRPr lang="en-US" dirty="0">
              <a:latin typeface="Vinque" panose="020E0603000000020003" pitchFamily="34" charset="0"/>
            </a:endParaRPr>
          </a:p>
          <a:p>
            <a:pPr algn="ctr"/>
            <a:r>
              <a:rPr lang="en-US" sz="1400" b="1" dirty="0">
                <a:latin typeface="Berkeley Book" panose="02020500000000000000" pitchFamily="18" charset="0"/>
              </a:rPr>
              <a:t>COLUMN SHIFTS: OTTOMAN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Artillery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Sappers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Mining Asset Card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left: Taif</a:t>
            </a:r>
          </a:p>
          <a:p>
            <a:pPr algn="l"/>
            <a:endParaRPr lang="en-US" dirty="0">
              <a:latin typeface="Berkeley Book" panose="02020500000000000000" pitchFamily="18" charset="0"/>
            </a:endParaRPr>
          </a:p>
          <a:p>
            <a:pPr algn="ctr"/>
            <a:r>
              <a:rPr lang="en-US" sz="1400" b="1" dirty="0">
                <a:latin typeface="Berkeley Book" panose="02020500000000000000" pitchFamily="18" charset="0"/>
              </a:rPr>
              <a:t>COLUMN SHIFTS: WAHHABI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right: Morale &lt;= 3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>
                <a:latin typeface="Berkeley Book" panose="02020500000000000000" pitchFamily="18" charset="0"/>
              </a:rPr>
              <a:t>1 left: Morale &gt;= 8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dirty="0">
              <a:latin typeface="Berkeley Book" panose="02020500000000000000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>
              <a:latin typeface="Vinque" panose="020E060300000002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4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5585</TotalTime>
  <Words>446</Words>
  <Application>Microsoft Office PowerPoint</Application>
  <PresentationFormat>Custom</PresentationFormat>
  <Paragraphs>267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Berkeley Book</vt:lpstr>
      <vt:lpstr>Calibri</vt:lpstr>
      <vt:lpstr>Vinque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Mike Richardson</cp:lastModifiedBy>
  <cp:revision>41</cp:revision>
  <dcterms:created xsi:type="dcterms:W3CDTF">2026-02-15T09:03:45Z</dcterms:created>
  <dcterms:modified xsi:type="dcterms:W3CDTF">2026-04-16T07:31:17Z</dcterms:modified>
</cp:coreProperties>
</file>
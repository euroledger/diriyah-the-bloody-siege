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1" r:id="rId3"/>
    <p:sldId id="260" r:id="rId4"/>
    <p:sldId id="262" r:id="rId5"/>
    <p:sldId id="263" r:id="rId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225" userDrawn="1">
          <p15:clr>
            <a:srgbClr val="A4A3A4"/>
          </p15:clr>
        </p15:guide>
        <p15:guide id="2" pos="2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83" d="100"/>
          <a:sy n="83" d="100"/>
        </p:scale>
        <p:origin x="908" y="52"/>
      </p:cViewPr>
      <p:guideLst>
        <p:guide orient="horz" pos="2225"/>
        <p:guide pos="2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2920" y="310896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591663">
        <a:defRPr>
          <a:latin typeface="+mn-lt"/>
          <a:ea typeface="+mn-ea"/>
          <a:cs typeface="+mn-cs"/>
        </a:defRPr>
      </a:lvl2pPr>
      <a:lvl3pPr marL="1183325">
        <a:defRPr>
          <a:latin typeface="+mn-lt"/>
          <a:ea typeface="+mn-ea"/>
          <a:cs typeface="+mn-cs"/>
        </a:defRPr>
      </a:lvl3pPr>
      <a:lvl4pPr marL="1774988">
        <a:defRPr>
          <a:latin typeface="+mn-lt"/>
          <a:ea typeface="+mn-ea"/>
          <a:cs typeface="+mn-cs"/>
        </a:defRPr>
      </a:lvl4pPr>
      <a:lvl5pPr marL="2366650">
        <a:defRPr>
          <a:latin typeface="+mn-lt"/>
          <a:ea typeface="+mn-ea"/>
          <a:cs typeface="+mn-cs"/>
        </a:defRPr>
      </a:lvl5pPr>
      <a:lvl6pPr marL="2958313">
        <a:defRPr>
          <a:latin typeface="+mn-lt"/>
          <a:ea typeface="+mn-ea"/>
          <a:cs typeface="+mn-cs"/>
        </a:defRPr>
      </a:lvl6pPr>
      <a:lvl7pPr marL="3549975">
        <a:defRPr>
          <a:latin typeface="+mn-lt"/>
          <a:ea typeface="+mn-ea"/>
          <a:cs typeface="+mn-cs"/>
        </a:defRPr>
      </a:lvl7pPr>
      <a:lvl8pPr marL="4141638">
        <a:defRPr>
          <a:latin typeface="+mn-lt"/>
          <a:ea typeface="+mn-ea"/>
          <a:cs typeface="+mn-cs"/>
        </a:defRPr>
      </a:lvl8pPr>
      <a:lvl9pPr marL="47333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A62F0A-9384-9132-C898-F6594A5E5EFE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 : 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051BD7-3B0D-BA67-9FEE-4030A6A71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310149"/>
              </p:ext>
            </p:extLst>
          </p:nvPr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8CCC5CB-ACCE-E00E-33B9-A7607A616593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B438CB-31BE-11F3-3301-D978937E6882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151E-8CE2-94BC-A139-44D40CFCE5E2}"/>
              </a:ext>
            </a:extLst>
          </p:cNvPr>
          <p:cNvSpPr txBox="1"/>
          <p:nvPr/>
        </p:nvSpPr>
        <p:spPr>
          <a:xfrm>
            <a:off x="2174913" y="4724400"/>
            <a:ext cx="609600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 (1 shift per artillery unit)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Defending Mountain Pass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Supply Lines 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left: Sharif Defects event</a:t>
            </a: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8B2DD-1D77-2D99-5CD6-8C839CD19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B39524B-5DB3-7CFA-84C4-5AEA2A992698}"/>
              </a:ext>
            </a:extLst>
          </p:cNvPr>
          <p:cNvSpPr txBox="1"/>
          <p:nvPr/>
        </p:nvSpPr>
        <p:spPr>
          <a:xfrm>
            <a:off x="1638297" y="15240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Vinque" panose="020E0603000000020003" pitchFamily="34" charset="0"/>
              </a:rPr>
              <a:t>DIRIYAH the bloody siege</a:t>
            </a:r>
          </a:p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BATTLE TABLE: NAJD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ED5F1-40C8-EBA1-7C77-F687FA889B5D}"/>
              </a:ext>
            </a:extLst>
          </p:cNvPr>
          <p:cNvGraphicFramePr>
            <a:graphicFrameLocks noGrp="1"/>
          </p:cNvGraphicFramePr>
          <p:nvPr/>
        </p:nvGraphicFramePr>
        <p:xfrm>
          <a:off x="803311" y="1770704"/>
          <a:ext cx="883920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C4E17FC-822C-B404-4979-FEC13755CECC}"/>
              </a:ext>
            </a:extLst>
          </p:cNvPr>
          <p:cNvSpPr txBox="1"/>
          <p:nvPr/>
        </p:nvSpPr>
        <p:spPr>
          <a:xfrm>
            <a:off x="4112261" y="1455428"/>
            <a:ext cx="11480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B1DD5-A122-95E2-0C96-C610DDC401D3}"/>
              </a:ext>
            </a:extLst>
          </p:cNvPr>
          <p:cNvSpPr txBox="1"/>
          <p:nvPr/>
        </p:nvSpPr>
        <p:spPr>
          <a:xfrm>
            <a:off x="84608" y="346065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2EE89F-8CBD-5087-ED94-29684DC9F773}"/>
              </a:ext>
            </a:extLst>
          </p:cNvPr>
          <p:cNvSpPr txBox="1"/>
          <p:nvPr/>
        </p:nvSpPr>
        <p:spPr>
          <a:xfrm>
            <a:off x="2174913" y="4724400"/>
            <a:ext cx="609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Artillery and Engineers in same attack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left: Supply Lines </a:t>
            </a:r>
            <a:r>
              <a:rPr lang="en-US" sz="1200" b="1" dirty="0">
                <a:latin typeface="Berkeley Book" panose="02020500000000000000" pitchFamily="18" charset="0"/>
              </a:rPr>
              <a:t>THREATENED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Cavalry vs No Tribal Fighters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&lt;= 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Supply Battle, control of </a:t>
            </a:r>
            <a:r>
              <a:rPr lang="en-GB" sz="1200" dirty="0" err="1">
                <a:latin typeface="Berkeley Book" panose="02020500000000000000" pitchFamily="18" charset="0"/>
              </a:rPr>
              <a:t>Mawiyya</a:t>
            </a:r>
            <a:r>
              <a:rPr lang="en-GB" sz="1200" dirty="0">
                <a:latin typeface="Berkeley Book" panose="02020500000000000000" pitchFamily="18" charset="0"/>
              </a:rPr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2 right: Supply Battle, control of Unaizah/Buraidah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200" dirty="0">
                <a:latin typeface="Berkeley Book" panose="02020500000000000000" pitchFamily="18" charset="0"/>
              </a:rPr>
              <a:t>3 right: Supply Battle, control of Shaqra</a:t>
            </a:r>
          </a:p>
        </p:txBody>
      </p:sp>
    </p:spTree>
    <p:extLst>
      <p:ext uri="{BB962C8B-B14F-4D97-AF65-F5344CB8AC3E}">
        <p14:creationId xmlns:p14="http://schemas.microsoft.com/office/powerpoint/2010/main" val="1170449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B1CB0-3885-73A1-FD36-6380DD56F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818E5FD-66CD-D1FE-449D-6999A3E3E0CA}"/>
              </a:ext>
            </a:extLst>
          </p:cNvPr>
          <p:cNvSpPr txBox="1"/>
          <p:nvPr/>
        </p:nvSpPr>
        <p:spPr>
          <a:xfrm>
            <a:off x="1638297" y="15240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SIEGE TABLE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BADDEB0-1886-4FFF-9599-B88A6C1F3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678729"/>
              </p:ext>
            </p:extLst>
          </p:nvPr>
        </p:nvGraphicFramePr>
        <p:xfrm>
          <a:off x="1344483" y="1063665"/>
          <a:ext cx="6683625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23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407433785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12587640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64977525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3110783789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995481297"/>
                    </a:ext>
                  </a:extLst>
                </a:gridCol>
                <a:gridCol w="768668">
                  <a:extLst>
                    <a:ext uri="{9D8B030D-6E8A-4147-A177-3AD203B41FA5}">
                      <a16:colId xmlns:a16="http://schemas.microsoft.com/office/drawing/2014/main" val="217613521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1293544296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29604A4-A9D0-C208-BB52-D41690B07E1B}"/>
              </a:ext>
            </a:extLst>
          </p:cNvPr>
          <p:cNvSpPr txBox="1"/>
          <p:nvPr/>
        </p:nvSpPr>
        <p:spPr>
          <a:xfrm>
            <a:off x="4112261" y="800067"/>
            <a:ext cx="17027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Attacker Strength Points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B8FA13-A23F-C398-94B1-79B4555BCFB2}"/>
              </a:ext>
            </a:extLst>
          </p:cNvPr>
          <p:cNvSpPr txBox="1"/>
          <p:nvPr/>
        </p:nvSpPr>
        <p:spPr>
          <a:xfrm>
            <a:off x="637044" y="2522899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8C85F4-7E5B-AA84-BF6C-62940B97E6D1}"/>
              </a:ext>
            </a:extLst>
          </p:cNvPr>
          <p:cNvSpPr txBox="1"/>
          <p:nvPr/>
        </p:nvSpPr>
        <p:spPr>
          <a:xfrm>
            <a:off x="2133600" y="4648200"/>
            <a:ext cx="6096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inque" panose="020E0603000000020003" pitchFamily="34" charset="0"/>
              </a:rPr>
              <a:t> </a:t>
            </a:r>
            <a:r>
              <a:rPr lang="en-US" dirty="0">
                <a:latin typeface="Berkeley Book" panose="02020500000000000000" pitchFamily="18" charset="0"/>
              </a:rPr>
              <a:t>results: B# - number of breaches</a:t>
            </a:r>
          </a:p>
          <a:p>
            <a:pPr algn="ctr"/>
            <a:endParaRPr lang="en-US" dirty="0">
              <a:latin typeface="Vinque" panose="020E0603000000020003" pitchFamily="34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 (2 right with </a:t>
            </a:r>
            <a:r>
              <a:rPr lang="en-US" sz="1200" dirty="0" err="1">
                <a:latin typeface="Berkeley Book" panose="02020500000000000000" pitchFamily="18" charset="0"/>
              </a:rPr>
              <a:t>upgreade</a:t>
            </a:r>
            <a:r>
              <a:rPr lang="en-US" sz="1200" dirty="0">
                <a:latin typeface="Berkeley Book" panose="02020500000000000000" pitchFamily="18" charset="0"/>
              </a:rPr>
              <a:t>): Artillery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Sappers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Mining Asset Card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Taif</a:t>
            </a:r>
          </a:p>
          <a:p>
            <a:pPr algn="l"/>
            <a:endParaRPr lang="en-US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Morale &lt;= 3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Morale &gt;= 8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Counter Mining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200" dirty="0">
              <a:latin typeface="Berkeley Book" panose="02020500000000000000" pitchFamily="18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34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E693A-4D13-185B-93E9-44FA9819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25DFC66-D51B-6277-E451-87BD6D9383FF}"/>
              </a:ext>
            </a:extLst>
          </p:cNvPr>
          <p:cNvSpPr txBox="1"/>
          <p:nvPr/>
        </p:nvSpPr>
        <p:spPr>
          <a:xfrm>
            <a:off x="1638297" y="152400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TARGET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DA3A18-CA95-DDC5-D124-C9239568987B}"/>
              </a:ext>
            </a:extLst>
          </p:cNvPr>
          <p:cNvSpPr txBox="1"/>
          <p:nvPr/>
        </p:nvSpPr>
        <p:spPr>
          <a:xfrm>
            <a:off x="2064480" y="3137800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Die Roll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0C9F474-1C4D-0344-7F55-B1B7F26E9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729162"/>
              </p:ext>
            </p:extLst>
          </p:nvPr>
        </p:nvGraphicFramePr>
        <p:xfrm>
          <a:off x="2971800" y="1717038"/>
          <a:ext cx="3886200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791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2872409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JEDDAH*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 LITH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 QUNFUNDAH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ABHA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KHAMIS MUSHAIT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B6C5FEB-C6E8-DB88-4C10-4C08202FF14E}"/>
              </a:ext>
            </a:extLst>
          </p:cNvPr>
          <p:cNvSpPr txBox="1"/>
          <p:nvPr/>
        </p:nvSpPr>
        <p:spPr>
          <a:xfrm>
            <a:off x="4686297" y="1378484"/>
            <a:ext cx="1343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Target to Raid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01000C-EED7-AB8B-9E41-C5B8D4B3DECF}"/>
              </a:ext>
            </a:extLst>
          </p:cNvPr>
          <p:cNvSpPr txBox="1"/>
          <p:nvPr/>
        </p:nvSpPr>
        <p:spPr>
          <a:xfrm>
            <a:off x="2900969" y="5105400"/>
            <a:ext cx="441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rkeley Book" panose="02020500000000000000" pitchFamily="18" charset="0"/>
              </a:rPr>
              <a:t>* Attack Jeddah only if Al Lith and Al </a:t>
            </a:r>
            <a:r>
              <a:rPr lang="en-US" sz="1600" dirty="0" err="1">
                <a:latin typeface="Berkeley Book" panose="02020500000000000000" pitchFamily="18" charset="0"/>
              </a:rPr>
              <a:t>Qunfundah</a:t>
            </a:r>
            <a:r>
              <a:rPr lang="en-US" sz="1600" dirty="0">
                <a:latin typeface="Berkeley Book" panose="02020500000000000000" pitchFamily="18" charset="0"/>
              </a:rPr>
              <a:t> Wahhabi controlled, otherwise NONE</a:t>
            </a:r>
          </a:p>
        </p:txBody>
      </p:sp>
    </p:spTree>
    <p:extLst>
      <p:ext uri="{BB962C8B-B14F-4D97-AF65-F5344CB8AC3E}">
        <p14:creationId xmlns:p14="http://schemas.microsoft.com/office/powerpoint/2010/main" val="1613097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18CB6-BF3D-C94B-6799-F18FA9E7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403D73-51B8-8AF2-742A-3532EB02163B}"/>
              </a:ext>
            </a:extLst>
          </p:cNvPr>
          <p:cNvSpPr txBox="1"/>
          <p:nvPr/>
        </p:nvSpPr>
        <p:spPr>
          <a:xfrm>
            <a:off x="1638297" y="152400"/>
            <a:ext cx="609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inque" panose="020E0603000000020003" pitchFamily="34" charset="0"/>
              </a:rPr>
              <a:t>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RAID RESOLUTION TABLE </a:t>
            </a:r>
          </a:p>
          <a:p>
            <a:pPr algn="ctr"/>
            <a:r>
              <a:rPr lang="en-US" dirty="0">
                <a:latin typeface="Vinque" panose="020E0603000000020003" pitchFamily="34" charset="0"/>
              </a:rPr>
              <a:t>HEJAZ CAMPAIGN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7D9016D-F721-E893-AC6C-8380AEF86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331726"/>
              </p:ext>
            </p:extLst>
          </p:nvPr>
        </p:nvGraphicFramePr>
        <p:xfrm>
          <a:off x="3048000" y="1396384"/>
          <a:ext cx="3721771" cy="3180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586">
                  <a:extLst>
                    <a:ext uri="{9D8B030D-6E8A-4147-A177-3AD203B41FA5}">
                      <a16:colId xmlns:a16="http://schemas.microsoft.com/office/drawing/2014/main" val="149382547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516153522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3772551564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611037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</a:tblGrid>
              <a:tr h="461433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936678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7623"/>
                  </a:ext>
                </a:extLst>
              </a:tr>
              <a:tr h="4614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48456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336BAFE-ADC9-F92A-688C-A6BAE94426BE}"/>
              </a:ext>
            </a:extLst>
          </p:cNvPr>
          <p:cNvSpPr txBox="1"/>
          <p:nvPr/>
        </p:nvSpPr>
        <p:spPr>
          <a:xfrm>
            <a:off x="4033574" y="1134774"/>
            <a:ext cx="19912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    Strength Point Differential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E180CD-43CE-CCAC-204F-11C22050C6C1}"/>
              </a:ext>
            </a:extLst>
          </p:cNvPr>
          <p:cNvSpPr txBox="1"/>
          <p:nvPr/>
        </p:nvSpPr>
        <p:spPr>
          <a:xfrm>
            <a:off x="2203405" y="2875284"/>
            <a:ext cx="6815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Die Roll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317718-DF3E-FC00-7796-FB89BC71EBC8}"/>
              </a:ext>
            </a:extLst>
          </p:cNvPr>
          <p:cNvSpPr txBox="1"/>
          <p:nvPr/>
        </p:nvSpPr>
        <p:spPr>
          <a:xfrm>
            <a:off x="2362200" y="4622255"/>
            <a:ext cx="609600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Vinque" panose="020E0603000000020003" pitchFamily="34" charset="0"/>
              </a:rPr>
              <a:t> 	</a:t>
            </a:r>
            <a:r>
              <a:rPr lang="en-US" sz="1600" dirty="0">
                <a:latin typeface="Berkeley Book" panose="02020500000000000000" pitchFamily="18" charset="0"/>
              </a:rPr>
              <a:t># - Number Ottoman Supply Points Lost</a:t>
            </a:r>
          </a:p>
          <a:p>
            <a:r>
              <a:rPr lang="en-US" sz="1600" dirty="0">
                <a:latin typeface="Berkeley Book" panose="02020500000000000000" pitchFamily="18" charset="0"/>
              </a:rPr>
              <a:t>                  c – Targets Al Lith/Al Qunfudhah captured</a:t>
            </a:r>
          </a:p>
          <a:p>
            <a:pPr algn="ctr"/>
            <a:endParaRPr lang="en-US" sz="1600" dirty="0">
              <a:latin typeface="Berkeley Book" panose="02020500000000000000" pitchFamily="18" charset="0"/>
            </a:endParaRPr>
          </a:p>
          <a:p>
            <a:pPr algn="l"/>
            <a:r>
              <a:rPr lang="en-US" sz="1600" dirty="0">
                <a:latin typeface="Berkeley Book" panose="02020500000000000000" pitchFamily="18" charset="0"/>
              </a:rPr>
              <a:t>                  Each side loses 1 Strength Point</a:t>
            </a:r>
          </a:p>
          <a:p>
            <a:pPr algn="l"/>
            <a:endParaRPr lang="en-US" sz="1600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OTTOMAN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left: Cavalry </a:t>
            </a:r>
            <a:r>
              <a:rPr lang="en-US" sz="1200">
                <a:latin typeface="Berkeley Book" panose="02020500000000000000" pitchFamily="18" charset="0"/>
              </a:rPr>
              <a:t>Present</a:t>
            </a:r>
            <a:r>
              <a:rPr lang="en-US" sz="1400" b="1">
                <a:latin typeface="Berkeley Book" panose="02020500000000000000" pitchFamily="18" charset="0"/>
              </a:rPr>
              <a:t> </a:t>
            </a:r>
          </a:p>
          <a:p>
            <a:pPr lvl="1" algn="l"/>
            <a:endParaRPr lang="en-US" sz="1400" b="1" dirty="0">
              <a:latin typeface="Berkeley Book" panose="02020500000000000000" pitchFamily="18" charset="0"/>
            </a:endParaRPr>
          </a:p>
          <a:p>
            <a:pPr algn="ctr"/>
            <a:r>
              <a:rPr lang="en-US" sz="1400" b="1" dirty="0">
                <a:latin typeface="Berkeley Book" panose="02020500000000000000" pitchFamily="18" charset="0"/>
              </a:rPr>
              <a:t>COLUMN SHIFTS: WAHHABI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2 right: Attacking Jeddah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Attacking Al Lith or Al Qunfudhah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Berkeley Book" panose="02020500000000000000" pitchFamily="18" charset="0"/>
              </a:rPr>
              <a:t>1 right: Mas’ud bin Madhian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Vinque" panose="020E060300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586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5713</TotalTime>
  <Words>612</Words>
  <Application>Microsoft Office PowerPoint</Application>
  <PresentationFormat>Custom</PresentationFormat>
  <Paragraphs>345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Berkeley Book</vt:lpstr>
      <vt:lpstr>Calibri</vt:lpstr>
      <vt:lpstr>Vinque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48</cp:revision>
  <dcterms:created xsi:type="dcterms:W3CDTF">2026-02-15T09:03:45Z</dcterms:created>
  <dcterms:modified xsi:type="dcterms:W3CDTF">2026-05-26T14:18:32Z</dcterms:modified>
</cp:coreProperties>
</file>
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61" r:id="rId3"/>
    <p:sldId id="260" r:id="rId4"/>
    <p:sldId id="262" r:id="rId5"/>
    <p:sldId id="263" r:id="rId6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225" userDrawn="1">
          <p15:clr>
            <a:srgbClr val="A4A3A4"/>
          </p15:clr>
        </p15:guide>
        <p15:guide id="2" pos="2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80" d="100"/>
          <a:sy n="80" d="100"/>
        </p:scale>
        <p:origin x="996" y="40"/>
      </p:cViewPr>
      <p:guideLst>
        <p:guide orient="horz" pos="2225"/>
        <p:guide pos="279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2920" y="310896"/>
            <a:ext cx="9052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591663">
        <a:defRPr>
          <a:latin typeface="+mn-lt"/>
          <a:ea typeface="+mn-ea"/>
          <a:cs typeface="+mn-cs"/>
        </a:defRPr>
      </a:lvl2pPr>
      <a:lvl3pPr marL="1183325">
        <a:defRPr>
          <a:latin typeface="+mn-lt"/>
          <a:ea typeface="+mn-ea"/>
          <a:cs typeface="+mn-cs"/>
        </a:defRPr>
      </a:lvl3pPr>
      <a:lvl4pPr marL="1774988">
        <a:defRPr>
          <a:latin typeface="+mn-lt"/>
          <a:ea typeface="+mn-ea"/>
          <a:cs typeface="+mn-cs"/>
        </a:defRPr>
      </a:lvl4pPr>
      <a:lvl5pPr marL="2366650">
        <a:defRPr>
          <a:latin typeface="+mn-lt"/>
          <a:ea typeface="+mn-ea"/>
          <a:cs typeface="+mn-cs"/>
        </a:defRPr>
      </a:lvl5pPr>
      <a:lvl6pPr marL="2958313">
        <a:defRPr>
          <a:latin typeface="+mn-lt"/>
          <a:ea typeface="+mn-ea"/>
          <a:cs typeface="+mn-cs"/>
        </a:defRPr>
      </a:lvl6pPr>
      <a:lvl7pPr marL="3549975">
        <a:defRPr>
          <a:latin typeface="+mn-lt"/>
          <a:ea typeface="+mn-ea"/>
          <a:cs typeface="+mn-cs"/>
        </a:defRPr>
      </a:lvl7pPr>
      <a:lvl8pPr marL="4141638">
        <a:defRPr>
          <a:latin typeface="+mn-lt"/>
          <a:ea typeface="+mn-ea"/>
          <a:cs typeface="+mn-cs"/>
        </a:defRPr>
      </a:lvl8pPr>
      <a:lvl9pPr marL="47333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591663">
        <a:defRPr>
          <a:latin typeface="+mn-lt"/>
          <a:ea typeface="+mn-ea"/>
          <a:cs typeface="+mn-cs"/>
        </a:defRPr>
      </a:lvl2pPr>
      <a:lvl3pPr marL="1183325">
        <a:defRPr>
          <a:latin typeface="+mn-lt"/>
          <a:ea typeface="+mn-ea"/>
          <a:cs typeface="+mn-cs"/>
        </a:defRPr>
      </a:lvl3pPr>
      <a:lvl4pPr marL="1774988">
        <a:defRPr>
          <a:latin typeface="+mn-lt"/>
          <a:ea typeface="+mn-ea"/>
          <a:cs typeface="+mn-cs"/>
        </a:defRPr>
      </a:lvl4pPr>
      <a:lvl5pPr marL="2366650">
        <a:defRPr>
          <a:latin typeface="+mn-lt"/>
          <a:ea typeface="+mn-ea"/>
          <a:cs typeface="+mn-cs"/>
        </a:defRPr>
      </a:lvl5pPr>
      <a:lvl6pPr marL="2958313">
        <a:defRPr>
          <a:latin typeface="+mn-lt"/>
          <a:ea typeface="+mn-ea"/>
          <a:cs typeface="+mn-cs"/>
        </a:defRPr>
      </a:lvl6pPr>
      <a:lvl7pPr marL="3549975">
        <a:defRPr>
          <a:latin typeface="+mn-lt"/>
          <a:ea typeface="+mn-ea"/>
          <a:cs typeface="+mn-cs"/>
        </a:defRPr>
      </a:lvl7pPr>
      <a:lvl8pPr marL="4141638">
        <a:defRPr>
          <a:latin typeface="+mn-lt"/>
          <a:ea typeface="+mn-ea"/>
          <a:cs typeface="+mn-cs"/>
        </a:defRPr>
      </a:lvl8pPr>
      <a:lvl9pPr marL="47333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A62F0A-9384-9132-C898-F6594A5E5EFE}"/>
              </a:ext>
            </a:extLst>
          </p:cNvPr>
          <p:cNvSpPr txBox="1"/>
          <p:nvPr/>
        </p:nvSpPr>
        <p:spPr>
          <a:xfrm>
            <a:off x="1638297" y="15240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Vinque" panose="020E0603000000020003" pitchFamily="34" charset="0"/>
              </a:rPr>
              <a:t>DIRIYAH the bloody siege</a:t>
            </a:r>
          </a:p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BATTLE TABLE : HEJAZ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051BD7-3B0D-BA67-9FEE-4030A6A710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310149"/>
              </p:ext>
            </p:extLst>
          </p:nvPr>
        </p:nvGraphicFramePr>
        <p:xfrm>
          <a:off x="803311" y="1770704"/>
          <a:ext cx="883920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8CCC5CB-ACCE-E00E-33B9-A7607A616593}"/>
              </a:ext>
            </a:extLst>
          </p:cNvPr>
          <p:cNvSpPr txBox="1"/>
          <p:nvPr/>
        </p:nvSpPr>
        <p:spPr>
          <a:xfrm>
            <a:off x="4112261" y="1455428"/>
            <a:ext cx="11480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B438CB-31BE-11F3-3301-D978937E6882}"/>
              </a:ext>
            </a:extLst>
          </p:cNvPr>
          <p:cNvSpPr txBox="1"/>
          <p:nvPr/>
        </p:nvSpPr>
        <p:spPr>
          <a:xfrm>
            <a:off x="84608" y="346065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151E-8CE2-94BC-A139-44D40CFCE5E2}"/>
              </a:ext>
            </a:extLst>
          </p:cNvPr>
          <p:cNvSpPr txBox="1"/>
          <p:nvPr/>
        </p:nvSpPr>
        <p:spPr>
          <a:xfrm>
            <a:off x="2174913" y="4724400"/>
            <a:ext cx="609600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Artillery and Engineers in same attack (1 shift per artillery unit)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left: Supply Lines </a:t>
            </a:r>
            <a:r>
              <a:rPr lang="en-US" sz="1200" b="1" dirty="0">
                <a:latin typeface="Berkeley Book" panose="02020500000000000000" pitchFamily="18" charset="0"/>
              </a:rPr>
              <a:t>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Cavalry vs No Tribal Fighters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&lt;= 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3 right: Defending Mountain Pass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left: Supply Lines 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left: Sharif Defects event</a:t>
            </a: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8B2DD-1D77-2D99-5CD6-8C839CD19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B39524B-5DB3-7CFA-84C4-5AEA2A992698}"/>
              </a:ext>
            </a:extLst>
          </p:cNvPr>
          <p:cNvSpPr txBox="1"/>
          <p:nvPr/>
        </p:nvSpPr>
        <p:spPr>
          <a:xfrm>
            <a:off x="1638297" y="15240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Vinque" panose="020E0603000000020003" pitchFamily="34" charset="0"/>
              </a:rPr>
              <a:t>DIRIYAH the bloody siege</a:t>
            </a:r>
          </a:p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BATTLE TABLE: NAJD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4EED5F1-40C8-EBA1-7C77-F687FA889B5D}"/>
              </a:ext>
            </a:extLst>
          </p:cNvPr>
          <p:cNvGraphicFramePr>
            <a:graphicFrameLocks noGrp="1"/>
          </p:cNvGraphicFramePr>
          <p:nvPr/>
        </p:nvGraphicFramePr>
        <p:xfrm>
          <a:off x="803311" y="1770704"/>
          <a:ext cx="883920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C4E17FC-822C-B404-4979-FEC13755CECC}"/>
              </a:ext>
            </a:extLst>
          </p:cNvPr>
          <p:cNvSpPr txBox="1"/>
          <p:nvPr/>
        </p:nvSpPr>
        <p:spPr>
          <a:xfrm>
            <a:off x="4112261" y="1455428"/>
            <a:ext cx="11480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B1DD5-A122-95E2-0C96-C610DDC401D3}"/>
              </a:ext>
            </a:extLst>
          </p:cNvPr>
          <p:cNvSpPr txBox="1"/>
          <p:nvPr/>
        </p:nvSpPr>
        <p:spPr>
          <a:xfrm>
            <a:off x="84608" y="346065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2EE89F-8CBD-5087-ED94-29684DC9F773}"/>
              </a:ext>
            </a:extLst>
          </p:cNvPr>
          <p:cNvSpPr txBox="1"/>
          <p:nvPr/>
        </p:nvSpPr>
        <p:spPr>
          <a:xfrm>
            <a:off x="2174913" y="4724400"/>
            <a:ext cx="609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Artillery and Engineers in same attack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left: Supply Lines </a:t>
            </a:r>
            <a:r>
              <a:rPr lang="en-US" sz="1200" b="1" dirty="0">
                <a:latin typeface="Berkeley Book" panose="02020500000000000000" pitchFamily="18" charset="0"/>
              </a:rPr>
              <a:t>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Cavalry vs No Tribal Fighters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&lt;= 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Supply Battle, control of </a:t>
            </a:r>
            <a:r>
              <a:rPr lang="en-GB" sz="1200" dirty="0" err="1">
                <a:latin typeface="Berkeley Book" panose="02020500000000000000" pitchFamily="18" charset="0"/>
              </a:rPr>
              <a:t>Mawiyya</a:t>
            </a:r>
            <a:r>
              <a:rPr lang="en-GB" sz="1200" dirty="0">
                <a:latin typeface="Berkeley Book" panose="02020500000000000000" pitchFamily="18" charset="0"/>
              </a:rPr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right: Supply Battle, control of Unaizah/Buraidah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3 right: Supply Battle, control of Shaqra</a:t>
            </a:r>
          </a:p>
        </p:txBody>
      </p:sp>
    </p:spTree>
    <p:extLst>
      <p:ext uri="{BB962C8B-B14F-4D97-AF65-F5344CB8AC3E}">
        <p14:creationId xmlns:p14="http://schemas.microsoft.com/office/powerpoint/2010/main" val="1170449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B1CB0-3885-73A1-FD36-6380DD56F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818E5FD-66CD-D1FE-449D-6999A3E3E0CA}"/>
              </a:ext>
            </a:extLst>
          </p:cNvPr>
          <p:cNvSpPr txBox="1"/>
          <p:nvPr/>
        </p:nvSpPr>
        <p:spPr>
          <a:xfrm>
            <a:off x="1638297" y="15240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SIEGE TABLE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BADDEB0-1886-4FFF-9599-B88A6C1F3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678729"/>
              </p:ext>
            </p:extLst>
          </p:nvPr>
        </p:nvGraphicFramePr>
        <p:xfrm>
          <a:off x="1344483" y="1063665"/>
          <a:ext cx="668362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68668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29604A4-A9D0-C208-BB52-D41690B07E1B}"/>
              </a:ext>
            </a:extLst>
          </p:cNvPr>
          <p:cNvSpPr txBox="1"/>
          <p:nvPr/>
        </p:nvSpPr>
        <p:spPr>
          <a:xfrm>
            <a:off x="4112261" y="800067"/>
            <a:ext cx="17027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Attacker 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B8FA13-A23F-C398-94B1-79B4555BCFB2}"/>
              </a:ext>
            </a:extLst>
          </p:cNvPr>
          <p:cNvSpPr txBox="1"/>
          <p:nvPr/>
        </p:nvSpPr>
        <p:spPr>
          <a:xfrm>
            <a:off x="637044" y="2522899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8C85F4-7E5B-AA84-BF6C-62940B97E6D1}"/>
              </a:ext>
            </a:extLst>
          </p:cNvPr>
          <p:cNvSpPr txBox="1"/>
          <p:nvPr/>
        </p:nvSpPr>
        <p:spPr>
          <a:xfrm>
            <a:off x="2133600" y="4648200"/>
            <a:ext cx="6096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inque" panose="020E0603000000020003" pitchFamily="34" charset="0"/>
              </a:rPr>
              <a:t> </a:t>
            </a:r>
            <a:r>
              <a:rPr lang="en-US" dirty="0">
                <a:latin typeface="Berkeley Book" panose="02020500000000000000" pitchFamily="18" charset="0"/>
              </a:rPr>
              <a:t>results: B# - number of breaches</a:t>
            </a:r>
          </a:p>
          <a:p>
            <a:pPr algn="ctr"/>
            <a:endParaRPr lang="en-US" dirty="0">
              <a:latin typeface="Vinque" panose="020E0603000000020003" pitchFamily="34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 (2 right </a:t>
            </a:r>
            <a:r>
              <a:rPr lang="en-US" sz="1200">
                <a:latin typeface="Berkeley Book" panose="02020500000000000000" pitchFamily="18" charset="0"/>
              </a:rPr>
              <a:t>with upgrade</a:t>
            </a:r>
            <a:r>
              <a:rPr lang="en-US" sz="1200" dirty="0">
                <a:latin typeface="Berkeley Book" panose="02020500000000000000" pitchFamily="18" charset="0"/>
              </a:rPr>
              <a:t>): Artillery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Sappers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Mining Asset Card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Taif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&lt;= 3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Counter Mining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347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E693A-4D13-185B-93E9-44FA9819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25DFC66-D51B-6277-E451-87BD6D9383FF}"/>
              </a:ext>
            </a:extLst>
          </p:cNvPr>
          <p:cNvSpPr txBox="1"/>
          <p:nvPr/>
        </p:nvSpPr>
        <p:spPr>
          <a:xfrm>
            <a:off x="1638297" y="152400"/>
            <a:ext cx="609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RAID TARGET TABLE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HEJAZ CAMPAIGN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0C9F474-1C4D-0344-7F55-B1B7F26E9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537521"/>
              </p:ext>
            </p:extLst>
          </p:nvPr>
        </p:nvGraphicFramePr>
        <p:xfrm>
          <a:off x="1295400" y="1736254"/>
          <a:ext cx="7162800" cy="32215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31484445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410791539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WAHHABI ACTION COST TO RAID</a:t>
                      </a:r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OTTOMAN DIE ROLL TO ATTACK**</a:t>
                      </a:r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JEDDAH*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 LITH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1-2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 QUNFUNDAH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ABHA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KHAMIS MUSHAIT*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B6C5FEB-C6E8-DB88-4C10-4C08202FF14E}"/>
              </a:ext>
            </a:extLst>
          </p:cNvPr>
          <p:cNvSpPr txBox="1"/>
          <p:nvPr/>
        </p:nvSpPr>
        <p:spPr>
          <a:xfrm>
            <a:off x="4686297" y="1378484"/>
            <a:ext cx="1343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Target to Raid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01000C-EED7-AB8B-9E41-C5B8D4B3DECF}"/>
              </a:ext>
            </a:extLst>
          </p:cNvPr>
          <p:cNvSpPr txBox="1"/>
          <p:nvPr/>
        </p:nvSpPr>
        <p:spPr>
          <a:xfrm>
            <a:off x="1981200" y="5181600"/>
            <a:ext cx="6229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* Jeddah can only be raided by Wahhabis if both Al Lith and Al </a:t>
            </a:r>
            <a:r>
              <a:rPr lang="en-US" sz="1600" dirty="0" err="1">
                <a:latin typeface="Berkeley Book" panose="02020500000000000000" pitchFamily="18" charset="0"/>
              </a:rPr>
              <a:t>Qunfundah</a:t>
            </a:r>
            <a:r>
              <a:rPr lang="en-US" sz="1600" dirty="0">
                <a:latin typeface="Berkeley Book" panose="02020500000000000000" pitchFamily="18" charset="0"/>
              </a:rPr>
              <a:t> </a:t>
            </a:r>
            <a:r>
              <a:rPr lang="en-US" sz="1600">
                <a:latin typeface="Berkeley Book" panose="02020500000000000000" pitchFamily="18" charset="0"/>
              </a:rPr>
              <a:t>are Wahhabi-controlled</a:t>
            </a:r>
            <a:r>
              <a:rPr lang="en-US" sz="1600" dirty="0">
                <a:latin typeface="Berkeley Book" panose="02020500000000000000" pitchFamily="18" charset="0"/>
              </a:rPr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BDAB32-656E-A566-AC54-1F4D7C79A030}"/>
              </a:ext>
            </a:extLst>
          </p:cNvPr>
          <p:cNvSpPr txBox="1"/>
          <p:nvPr/>
        </p:nvSpPr>
        <p:spPr>
          <a:xfrm>
            <a:off x="1981200" y="5943600"/>
            <a:ext cx="6229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** Raid the target rolled if Wahhabi held otherwise No Effect</a:t>
            </a:r>
          </a:p>
        </p:txBody>
      </p:sp>
    </p:spTree>
    <p:extLst>
      <p:ext uri="{BB962C8B-B14F-4D97-AF65-F5344CB8AC3E}">
        <p14:creationId xmlns:p14="http://schemas.microsoft.com/office/powerpoint/2010/main" val="1613097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18CB6-BF3D-C94B-6799-F18FA9E7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403D73-51B8-8AF2-742A-3532EB02163B}"/>
              </a:ext>
            </a:extLst>
          </p:cNvPr>
          <p:cNvSpPr txBox="1"/>
          <p:nvPr/>
        </p:nvSpPr>
        <p:spPr>
          <a:xfrm>
            <a:off x="1676400" y="-60294"/>
            <a:ext cx="609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RAID RESOLUTION TABLE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HEJAZ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7D9016D-F721-E893-AC6C-8380AEF86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563234"/>
              </p:ext>
            </p:extLst>
          </p:nvPr>
        </p:nvGraphicFramePr>
        <p:xfrm>
          <a:off x="3047998" y="1242683"/>
          <a:ext cx="3721771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586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516153522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336BAFE-ADC9-F92A-688C-A6BAE94426BE}"/>
              </a:ext>
            </a:extLst>
          </p:cNvPr>
          <p:cNvSpPr txBox="1"/>
          <p:nvPr/>
        </p:nvSpPr>
        <p:spPr>
          <a:xfrm>
            <a:off x="3913259" y="981073"/>
            <a:ext cx="19912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    Strength Point Differential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E180CD-43CE-CCAC-204F-11C22050C6C1}"/>
              </a:ext>
            </a:extLst>
          </p:cNvPr>
          <p:cNvSpPr txBox="1"/>
          <p:nvPr/>
        </p:nvSpPr>
        <p:spPr>
          <a:xfrm>
            <a:off x="2203405" y="287528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317718-DF3E-FC00-7796-FB89BC71EBC8}"/>
              </a:ext>
            </a:extLst>
          </p:cNvPr>
          <p:cNvSpPr txBox="1"/>
          <p:nvPr/>
        </p:nvSpPr>
        <p:spPr>
          <a:xfrm>
            <a:off x="2362200" y="4422761"/>
            <a:ext cx="6096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Vinque" panose="020E0603000000020003" pitchFamily="34" charset="0"/>
              </a:rPr>
              <a:t> 	</a:t>
            </a:r>
            <a:r>
              <a:rPr lang="en-US" sz="1600" dirty="0">
                <a:latin typeface="Berkeley Book" panose="02020500000000000000" pitchFamily="18" charset="0"/>
              </a:rPr>
              <a:t># - Number Ottoman Supply Points Lost</a:t>
            </a:r>
          </a:p>
          <a:p>
            <a:r>
              <a:rPr lang="en-US" sz="1600" dirty="0">
                <a:latin typeface="Berkeley Book" panose="02020500000000000000" pitchFamily="18" charset="0"/>
              </a:rPr>
              <a:t>                  c – Targets Al Lith/Al Qunfudhah captured</a:t>
            </a:r>
          </a:p>
          <a:p>
            <a:pPr algn="ctr"/>
            <a:endParaRPr lang="en-US" sz="1600" dirty="0">
              <a:latin typeface="Berkeley Book" panose="02020500000000000000" pitchFamily="18" charset="0"/>
            </a:endParaRPr>
          </a:p>
          <a:p>
            <a:pPr algn="l"/>
            <a:r>
              <a:rPr lang="en-US" sz="1600" dirty="0">
                <a:latin typeface="Berkeley Book" panose="02020500000000000000" pitchFamily="18" charset="0"/>
              </a:rPr>
              <a:t>                  Each side loses 1 Strength Point</a:t>
            </a:r>
          </a:p>
          <a:p>
            <a:pPr algn="l"/>
            <a:endParaRPr lang="en-US" sz="1600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Cavalry Present</a:t>
            </a:r>
            <a:r>
              <a:rPr lang="en-US" sz="1400" b="1" dirty="0">
                <a:latin typeface="Berkeley Book" panose="02020500000000000000" pitchFamily="18" charset="0"/>
              </a:rPr>
              <a:t> 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Sharif Ghalib bin </a:t>
            </a:r>
            <a:r>
              <a:rPr lang="en-US" sz="1200" dirty="0" err="1">
                <a:latin typeface="Berkeley Book" panose="02020500000000000000" pitchFamily="18" charset="0"/>
              </a:rPr>
              <a:t>Musa’id</a:t>
            </a:r>
            <a:r>
              <a:rPr lang="en-US" sz="1200" dirty="0">
                <a:latin typeface="Berkeley Book" panose="02020500000000000000" pitchFamily="18" charset="0"/>
              </a:rPr>
              <a:t> Ottoman Aligned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endParaRPr lang="en-US" sz="1400" b="1" dirty="0">
              <a:latin typeface="Berkeley Book" panose="02020500000000000000" pitchFamily="18" charset="0"/>
            </a:endParaRPr>
          </a:p>
          <a:p>
            <a:pPr lvl="1" algn="l"/>
            <a:endParaRPr lang="en-US" sz="1400" b="1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right: Attacking Jeddah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</a:t>
            </a:r>
            <a:r>
              <a:rPr lang="en-US" sz="1200" dirty="0" err="1">
                <a:latin typeface="Berkeley Book" panose="02020500000000000000" pitchFamily="18" charset="0"/>
              </a:rPr>
              <a:t>Tusun</a:t>
            </a:r>
            <a:r>
              <a:rPr lang="en-US" sz="1200" dirty="0">
                <a:latin typeface="Berkeley Book" panose="02020500000000000000" pitchFamily="18" charset="0"/>
              </a:rPr>
              <a:t> </a:t>
            </a:r>
            <a:r>
              <a:rPr lang="en-US" sz="1200">
                <a:latin typeface="Berkeley Book" panose="02020500000000000000" pitchFamily="18" charset="0"/>
              </a:rPr>
              <a:t>Pasha in command (if Yanbu)</a:t>
            </a: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Attacking Al Lith or Al Qunfudhah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Sharif Ghalib bin </a:t>
            </a:r>
            <a:r>
              <a:rPr lang="en-US" sz="1200" dirty="0" err="1">
                <a:latin typeface="Berkeley Book" panose="02020500000000000000" pitchFamily="18" charset="0"/>
              </a:rPr>
              <a:t>Musa'id</a:t>
            </a:r>
            <a:r>
              <a:rPr lang="en-US" sz="1200" dirty="0">
                <a:latin typeface="Berkeley Book" panose="02020500000000000000" pitchFamily="18" charset="0"/>
              </a:rPr>
              <a:t> Wahhabi Aligned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Political Will &gt;= 7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586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7520</TotalTime>
  <Words>671</Words>
  <Application>Microsoft Office PowerPoint</Application>
  <PresentationFormat>Custom</PresentationFormat>
  <Paragraphs>354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Berkeley Book</vt:lpstr>
      <vt:lpstr>Calibri</vt:lpstr>
      <vt:lpstr>Vinque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53</cp:revision>
  <dcterms:created xsi:type="dcterms:W3CDTF">2026-02-15T09:03:45Z</dcterms:created>
  <dcterms:modified xsi:type="dcterms:W3CDTF">2026-06-10T11:01:43Z</dcterms:modified>
</cp:coreProperties>
</file>
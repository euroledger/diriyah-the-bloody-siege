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88418" autoAdjust="0"/>
  </p:normalViewPr>
  <p:slideViewPr>
    <p:cSldViewPr>
      <p:cViewPr varScale="1">
        <p:scale>
          <a:sx n="58" d="100"/>
          <a:sy n="58" d="100"/>
        </p:scale>
        <p:origin x="2144" y="5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182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95628-210E-4CE1-AAEA-43A3DE47F2BD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74925" y="1257300"/>
            <a:ext cx="262255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2CA95-F8EB-4FCA-97E8-B8E19E3A6B8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585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6CE7-1E01-EEE2-65C0-6635E016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6E623-2454-D2AD-21ED-0CF07870A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3BCA5-CFCB-6E33-C29A-6606C400E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D9BB1-667F-FCB7-F568-4475C6149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2CA95-F8EB-4FCA-97E8-B8E19E3A6B8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695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2000"/>
            <a:lum/>
          </a:blip>
          <a:srcRect/>
          <a:stretch>
            <a:fillRect l="-41000" r="-4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0259A-EDA3-A8A0-E928-7F41AEB83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E4C7B01-2C05-B516-31CD-AEAA4A945181}"/>
              </a:ext>
            </a:extLst>
          </p:cNvPr>
          <p:cNvSpPr txBox="1"/>
          <p:nvPr/>
        </p:nvSpPr>
        <p:spPr>
          <a:xfrm>
            <a:off x="2988245" y="766944"/>
            <a:ext cx="1612265" cy="34753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b="1" spc="-50" dirty="0">
                <a:latin typeface="Vinque" panose="020E0603000000020003" pitchFamily="34" charset="0"/>
                <a:cs typeface="Arial MT"/>
              </a:rPr>
              <a:t>PLAYER</a:t>
            </a:r>
            <a:r>
              <a:rPr b="1" spc="30" dirty="0">
                <a:latin typeface="Vinque" panose="020E0603000000020003" pitchFamily="34" charset="0"/>
                <a:cs typeface="Arial MT"/>
              </a:rPr>
              <a:t> </a:t>
            </a:r>
            <a:r>
              <a:rPr b="1" spc="-25" dirty="0">
                <a:latin typeface="Vinque" panose="020E0603000000020003" pitchFamily="34" charset="0"/>
                <a:cs typeface="Arial MT"/>
              </a:rPr>
              <a:t>AID</a:t>
            </a:r>
            <a:endParaRPr b="1" dirty="0">
              <a:latin typeface="Vinque" panose="020E0603000000020003" pitchFamily="34" charset="0"/>
              <a:cs typeface="Arial MT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8F13C29-922C-D9AD-1F89-306BAFDA5689}"/>
              </a:ext>
            </a:extLst>
          </p:cNvPr>
          <p:cNvSpPr/>
          <p:nvPr/>
        </p:nvSpPr>
        <p:spPr>
          <a:xfrm flipH="1">
            <a:off x="3766641" y="1193494"/>
            <a:ext cx="18288" cy="8583721"/>
          </a:xfrm>
          <a:custGeom>
            <a:avLst/>
            <a:gdLst/>
            <a:ahLst/>
            <a:cxnLst/>
            <a:rect l="l" t="t" r="r" b="b"/>
            <a:pathLst>
              <a:path w="18414" h="7632700">
                <a:moveTo>
                  <a:pt x="18287" y="0"/>
                </a:moveTo>
                <a:lnTo>
                  <a:pt x="0" y="0"/>
                </a:lnTo>
                <a:lnTo>
                  <a:pt x="0" y="7632191"/>
                </a:lnTo>
                <a:lnTo>
                  <a:pt x="18287" y="7632191"/>
                </a:lnTo>
                <a:lnTo>
                  <a:pt x="18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>
              <a:latin typeface="Arial M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D22E13-A22E-6DBC-43A8-82180A9AC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522" y="84511"/>
            <a:ext cx="2118126" cy="707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B809A5-9DE2-0400-A317-CE98576BD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74"/>
            <a:ext cx="7772400" cy="10048452"/>
          </a:xfrm>
          <a:prstGeom prst="rect">
            <a:avLst/>
          </a:prstGeom>
        </p:spPr>
      </p:pic>
      <p:sp>
        <p:nvSpPr>
          <p:cNvPr id="7" name="object 9">
            <a:extLst>
              <a:ext uri="{FF2B5EF4-FFF2-40B4-BE49-F238E27FC236}">
                <a16:creationId xmlns:a16="http://schemas.microsoft.com/office/drawing/2014/main" id="{B16CF9A8-9703-60AD-A5BD-3C27FB6F449C}"/>
              </a:ext>
            </a:extLst>
          </p:cNvPr>
          <p:cNvSpPr txBox="1"/>
          <p:nvPr/>
        </p:nvSpPr>
        <p:spPr>
          <a:xfrm>
            <a:off x="84483" y="6868056"/>
            <a:ext cx="3636658" cy="25231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2000" b="1" spc="75" dirty="0">
                <a:latin typeface="Vinque" panose="020E0603000000020003" pitchFamily="34" charset="0"/>
                <a:cs typeface="Arial MT"/>
              </a:rPr>
              <a:t>PLAYER ACTIONS</a:t>
            </a:r>
          </a:p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2000" b="1" i="1" u="sng" spc="75" dirty="0">
                <a:latin typeface="Berkeley Book" panose="02020500000000000000" pitchFamily="18" charset="0"/>
                <a:cs typeface="Arial MT"/>
              </a:rPr>
              <a:t>Add Number of Actions to Command Points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>
                <a:latin typeface="Berkeley Book" panose="02020500000000000000" pitchFamily="18" charset="0"/>
              </a:rPr>
              <a:t>Retreat</a:t>
            </a:r>
            <a:r>
              <a:rPr lang="en-GB" sz="1800" b="1" dirty="0">
                <a:latin typeface="Berkeley Book" panose="02020500000000000000" pitchFamily="18" charset="0"/>
              </a:rPr>
              <a:t> One Space (</a:t>
            </a:r>
            <a:r>
              <a:rPr lang="en-GB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1CP</a:t>
            </a:r>
            <a:r>
              <a:rPr lang="en-GB" sz="1800" b="1" dirty="0">
                <a:latin typeface="Berkeley Book" panose="02020500000000000000" pitchFamily="18" charset="0"/>
              </a:rPr>
              <a:t>)</a:t>
            </a:r>
            <a:endParaRPr lang="en-US" b="1" dirty="0">
              <a:latin typeface="Berkeley Book" panose="02020500000000000000" pitchFamily="18" charset="0"/>
            </a:endParaRPr>
          </a:p>
          <a:p>
            <a:pPr lvl="0"/>
            <a:r>
              <a:rPr lang="en-GB" sz="1600" i="1" dirty="0">
                <a:latin typeface="Berkeley Book" panose="02020500000000000000" pitchFamily="18" charset="0"/>
              </a:rPr>
              <a:t>          Retreat all units one space backwards</a:t>
            </a:r>
            <a:endParaRPr lang="en-US" sz="1600" i="1" dirty="0">
              <a:latin typeface="Berkeley Book" panose="02020500000000000000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b="1" dirty="0">
                <a:latin typeface="Berkeley Book" panose="02020500000000000000" pitchFamily="18" charset="0"/>
              </a:rPr>
              <a:t>Move Cavalry Unit to any Space on Map (</a:t>
            </a:r>
            <a:r>
              <a:rPr lang="en-GB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1CP</a:t>
            </a:r>
            <a:r>
              <a:rPr lang="en-GB" sz="1800" b="1" dirty="0">
                <a:latin typeface="Berkeley Book" panose="02020500000000000000" pitchFamily="18" charset="0"/>
              </a:rPr>
              <a:t>)</a:t>
            </a:r>
            <a:endParaRPr lang="en-US" b="1" dirty="0">
              <a:latin typeface="Berkeley Book" panose="02020500000000000000" pitchFamily="18" charset="0"/>
            </a:endParaRPr>
          </a:p>
          <a:p>
            <a:pPr marL="457200" lvl="0"/>
            <a:r>
              <a:rPr lang="en-GB" sz="1600" i="1" dirty="0">
                <a:latin typeface="Berkeley Book" panose="02020500000000000000" pitchFamily="18" charset="0"/>
              </a:rPr>
              <a:t>Cannot enter Stronghold or Citadel spaces or Reserve</a:t>
            </a:r>
            <a:endParaRPr lang="en-US" sz="1600" i="1" dirty="0">
              <a:latin typeface="Berkeley Book" panose="02020500000000000000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7B604B-92E2-7694-BA0D-86560C5A2079}"/>
              </a:ext>
            </a:extLst>
          </p:cNvPr>
          <p:cNvSpPr txBox="1"/>
          <p:nvPr/>
        </p:nvSpPr>
        <p:spPr>
          <a:xfrm>
            <a:off x="3833980" y="1644763"/>
            <a:ext cx="3861632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b="1" dirty="0">
                <a:latin typeface="Berkeley Book" panose="02020500000000000000" pitchFamily="18" charset="0"/>
              </a:rPr>
              <a:t>Conduct One Counter-Attack (vs. non-Stronghold spaces) (</a:t>
            </a:r>
            <a:r>
              <a:rPr lang="en-US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2CP</a:t>
            </a:r>
            <a:r>
              <a:rPr lang="en-US" sz="1800" b="1" dirty="0">
                <a:latin typeface="Berkeley Book" panose="02020500000000000000" pitchFamily="18" charset="0"/>
              </a:rPr>
              <a:t>)</a:t>
            </a:r>
          </a:p>
          <a:p>
            <a:pPr marL="457200"/>
            <a:r>
              <a:rPr lang="en-US" sz="1600" i="1" dirty="0">
                <a:latin typeface="Berkeley Book" panose="02020500000000000000" pitchFamily="18" charset="0"/>
              </a:rPr>
              <a:t>=&gt; Defeat -1 Morale</a:t>
            </a:r>
          </a:p>
          <a:p>
            <a:pPr marL="457200"/>
            <a:r>
              <a:rPr lang="en-US" sz="1600" i="1" dirty="0">
                <a:latin typeface="Berkeley Book" panose="02020500000000000000" pitchFamily="18" charset="0"/>
              </a:rPr>
              <a:t>=&gt; Victory +1 Morale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Berkeley Book" panose="02020500000000000000" pitchFamily="18" charset="0"/>
              </a:rPr>
              <a:t>Conduct One Pot-Shot Attack (</a:t>
            </a:r>
            <a:r>
              <a:rPr lang="en-US" b="1" dirty="0">
                <a:solidFill>
                  <a:srgbClr val="C00000"/>
                </a:solidFill>
                <a:latin typeface="Berkeley Book" panose="02020500000000000000" pitchFamily="18" charset="0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CP</a:t>
            </a:r>
            <a:r>
              <a:rPr lang="en-US" sz="1800" b="1" dirty="0">
                <a:latin typeface="Berkeley Book" panose="02020500000000000000" pitchFamily="18" charset="0"/>
              </a:rPr>
              <a:t>) </a:t>
            </a:r>
            <a:endParaRPr lang="en-US" sz="1600" b="1" dirty="0">
              <a:latin typeface="Berkeley Book" panose="02020500000000000000" pitchFamily="18" charset="0"/>
            </a:endParaRPr>
          </a:p>
          <a:p>
            <a:pPr marL="457200" lvl="0"/>
            <a:r>
              <a:rPr lang="en-US" sz="1600" i="1" dirty="0">
                <a:latin typeface="Berkeley Book" panose="02020500000000000000" pitchFamily="18" charset="0"/>
              </a:rPr>
              <a:t>Must be vs. Front or Cavalry. Roll 1d6: If &gt; Unit’s Combat Rating, flip to DISRUPTED. Allowed vs Start Box and Stronghold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Berkeley Book" panose="02020500000000000000" pitchFamily="18" charset="0"/>
              </a:rPr>
              <a:t>Purchase Asset from CP Table</a:t>
            </a:r>
          </a:p>
          <a:p>
            <a:pPr lvl="0"/>
            <a:r>
              <a:rPr lang="en-US" sz="1600" b="1" dirty="0">
                <a:latin typeface="Berkeley Book" panose="02020500000000000000" pitchFamily="18" charset="0"/>
              </a:rPr>
              <a:t>        </a:t>
            </a:r>
            <a:r>
              <a:rPr lang="en-US" sz="1600" i="1" dirty="0">
                <a:latin typeface="Berkeley Book" panose="02020500000000000000" pitchFamily="18" charset="0"/>
              </a:rPr>
              <a:t>Asset CP Cost As Per CP Table</a:t>
            </a:r>
            <a:endParaRPr lang="en-US" sz="1600" b="1" dirty="0">
              <a:latin typeface="Berkeley Book" panose="02020500000000000000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Berkeley Book" panose="02020500000000000000" pitchFamily="18" charset="0"/>
              </a:rPr>
              <a:t>Repair One Breach</a:t>
            </a:r>
          </a:p>
          <a:p>
            <a:pPr marL="457200"/>
            <a:r>
              <a:rPr lang="en-US" sz="1600" i="1" dirty="0">
                <a:latin typeface="Berkeley Book" panose="02020500000000000000" pitchFamily="18" charset="0"/>
              </a:rPr>
              <a:t>Requires Expenditure of Repair Breach                                                                                             marker. Put cube back onto any one square. This requires the expenditure of a Breach repair marker in the Reserve</a:t>
            </a:r>
            <a:endParaRPr lang="en-US" sz="1600" b="1" i="1" dirty="0">
              <a:latin typeface="Berkeley Book" panose="02020500000000000000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Berkeley Book" panose="02020500000000000000" pitchFamily="18" charset="0"/>
              </a:rPr>
              <a:t>Move Unit to/from Reserve (</a:t>
            </a:r>
            <a:r>
              <a:rPr lang="en-US" b="1" dirty="0">
                <a:solidFill>
                  <a:srgbClr val="C00000"/>
                </a:solidFill>
                <a:latin typeface="Berkeley Book" panose="02020500000000000000" pitchFamily="18" charset="0"/>
              </a:rPr>
              <a:t>1</a:t>
            </a:r>
            <a:r>
              <a:rPr lang="en-US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CP</a:t>
            </a:r>
            <a:r>
              <a:rPr lang="en-US" sz="1800" b="1" dirty="0">
                <a:latin typeface="Berkeley Book" panose="02020500000000000000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latin typeface="Berkeley Book" panose="02020500000000000000" pitchFamily="18" charset="0"/>
              </a:rPr>
              <a:t>Remove Disruption (</a:t>
            </a:r>
            <a:r>
              <a:rPr lang="en-GB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1CP</a:t>
            </a:r>
            <a:r>
              <a:rPr lang="en-GB" sz="1800" b="1" dirty="0">
                <a:latin typeface="Berkeley Book" panose="02020500000000000000" pitchFamily="18" charset="0"/>
              </a:rPr>
              <a:t>)</a:t>
            </a:r>
          </a:p>
          <a:p>
            <a:pPr marL="457200"/>
            <a:r>
              <a:rPr lang="en-US" sz="1600" i="1" dirty="0">
                <a:latin typeface="Berkeley Book" panose="02020500000000000000" pitchFamily="18" charset="0"/>
              </a:rPr>
              <a:t>Flip disrupted units to Full Strength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latin typeface="Berkeley Book" panose="02020500000000000000" pitchFamily="18" charset="0"/>
              </a:rPr>
              <a:t>Redeploy Imam Abdullah (</a:t>
            </a:r>
            <a:r>
              <a:rPr lang="en-GB" sz="1800" b="1" dirty="0">
                <a:solidFill>
                  <a:srgbClr val="C00000"/>
                </a:solidFill>
                <a:latin typeface="Berkeley Book" panose="02020500000000000000" pitchFamily="18" charset="0"/>
              </a:rPr>
              <a:t>1CP</a:t>
            </a:r>
            <a:r>
              <a:rPr lang="en-GB" sz="1800" b="1" dirty="0">
                <a:latin typeface="Berkeley Book" panose="02020500000000000000" pitchFamily="18" charset="0"/>
              </a:rPr>
              <a:t>)</a:t>
            </a:r>
          </a:p>
          <a:p>
            <a:pPr marL="457200" lvl="0"/>
            <a:r>
              <a:rPr lang="en-GB" sz="1600" i="1" dirty="0">
                <a:latin typeface="Berkeley Book" panose="02020500000000000000" pitchFamily="18" charset="0"/>
              </a:rPr>
              <a:t>Move Imam Abdullah marker from map space to any other space.</a:t>
            </a:r>
            <a:endParaRPr lang="en-US" sz="1600" i="1" dirty="0">
              <a:latin typeface="Berkeley Book" panose="02020500000000000000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106BF79-2B26-D30E-9207-FA7A5A220D4A}"/>
              </a:ext>
            </a:extLst>
          </p:cNvPr>
          <p:cNvSpPr txBox="1"/>
          <p:nvPr/>
        </p:nvSpPr>
        <p:spPr>
          <a:xfrm>
            <a:off x="157719" y="1640600"/>
            <a:ext cx="3636658" cy="512640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2000" b="1" spc="75" dirty="0">
                <a:latin typeface="Vinque" panose="020E0603000000020003" pitchFamily="34" charset="0"/>
                <a:cs typeface="Arial MT"/>
              </a:rPr>
              <a:t>SEQUENCE OF PLAY</a:t>
            </a:r>
          </a:p>
          <a:p>
            <a:pPr lvl="0"/>
            <a:r>
              <a:rPr lang="en-GB" sz="2000" b="1" u="sng" dirty="0">
                <a:latin typeface="Berkeley Book" panose="02020500000000000000" pitchFamily="18" charset="0"/>
              </a:rPr>
              <a:t>Setup I</a:t>
            </a:r>
            <a:r>
              <a:rPr lang="en-GB" dirty="0">
                <a:latin typeface="Berkeley Book" panose="02020500000000000000" pitchFamily="18" charset="0"/>
              </a:rPr>
              <a:t>: Pre-Game Saudi Defense Customization (See Command Point Table)</a:t>
            </a:r>
          </a:p>
          <a:p>
            <a:pPr lvl="0"/>
            <a:r>
              <a:rPr lang="en-GB" b="1" u="sng" dirty="0">
                <a:latin typeface="Berkeley Book" panose="02020500000000000000" pitchFamily="18" charset="0"/>
              </a:rPr>
              <a:t>Setup II</a:t>
            </a:r>
            <a:r>
              <a:rPr lang="en-GB" dirty="0">
                <a:latin typeface="Berkeley Book" panose="02020500000000000000" pitchFamily="18" charset="0"/>
              </a:rPr>
              <a:t>: Deploy Starting Saudi Forces from Reserve (or leave there)</a:t>
            </a:r>
            <a:endParaRPr lang="en-US" b="1" u="sng" dirty="0">
              <a:latin typeface="Berkeley Book" panose="02020500000000000000" pitchFamily="18" charset="0"/>
            </a:endParaRPr>
          </a:p>
          <a:p>
            <a:pPr lvl="0"/>
            <a:r>
              <a:rPr lang="en-GB" sz="2000" b="1" u="sng" dirty="0">
                <a:latin typeface="Berkeley Book" panose="02020500000000000000" pitchFamily="18" charset="0"/>
              </a:rPr>
              <a:t>Setup III</a:t>
            </a:r>
            <a:r>
              <a:rPr lang="en-GB" dirty="0">
                <a:latin typeface="Berkeley Book" panose="02020500000000000000" pitchFamily="18" charset="0"/>
              </a:rPr>
              <a:t>: Reveal Random Ottoman Artillery/Cavalry/Ibrahim Pasha markers</a:t>
            </a:r>
            <a:endParaRPr lang="en-US" dirty="0">
              <a:latin typeface="Berkeley Book" panose="02020500000000000000" pitchFamily="18" charset="0"/>
            </a:endParaRPr>
          </a:p>
          <a:p>
            <a:pPr lvl="0"/>
            <a:r>
              <a:rPr lang="en-GB" sz="2000" b="1" u="sng" dirty="0">
                <a:latin typeface="Berkeley Book" panose="02020500000000000000" pitchFamily="18" charset="0"/>
              </a:rPr>
              <a:t>Each Turn:</a:t>
            </a:r>
            <a:endParaRPr lang="en-US" sz="2000" b="1" dirty="0">
              <a:latin typeface="Berkeley Book" panose="02020500000000000000" pitchFamily="18" charset="0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GB" dirty="0">
                <a:latin typeface="Berkeley Book" panose="02020500000000000000" pitchFamily="18" charset="0"/>
              </a:rPr>
              <a:t>Draw 1 Event Card from each Draw Deck</a:t>
            </a:r>
            <a:endParaRPr lang="en-US" dirty="0">
              <a:latin typeface="Berkeley Book" panose="02020500000000000000" pitchFamily="18" charset="0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GB" dirty="0">
                <a:latin typeface="Berkeley Book" panose="02020500000000000000" pitchFamily="18" charset="0"/>
              </a:rPr>
              <a:t>Ottoman Event Phase – Flip All Ottoman Artillery to Full Strength</a:t>
            </a:r>
            <a:endParaRPr lang="en-US" dirty="0">
              <a:latin typeface="Berkeley Book" panose="02020500000000000000" pitchFamily="18" charset="0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GB" dirty="0">
                <a:latin typeface="Berkeley Book" panose="02020500000000000000" pitchFamily="18" charset="0"/>
              </a:rPr>
              <a:t>Ottoman Advances Phase</a:t>
            </a:r>
            <a:endParaRPr lang="en-US" dirty="0">
              <a:latin typeface="Berkeley Book" panose="02020500000000000000" pitchFamily="18" charset="0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GB" dirty="0">
                <a:latin typeface="Berkeley Book" panose="02020500000000000000" pitchFamily="18" charset="0"/>
              </a:rPr>
              <a:t>Saudi Event Phase</a:t>
            </a:r>
            <a:endParaRPr lang="en-US" dirty="0">
              <a:latin typeface="Berkeley Book" panose="02020500000000000000" pitchFamily="18" charset="0"/>
            </a:endParaRPr>
          </a:p>
          <a:p>
            <a:pPr marL="342900" lvl="1" indent="-342900">
              <a:buFont typeface="+mj-lt"/>
              <a:buAutoNum type="arabicPeriod"/>
            </a:pPr>
            <a:r>
              <a:rPr lang="en-GB" dirty="0">
                <a:latin typeface="Berkeley Book" panose="02020500000000000000" pitchFamily="18" charset="0"/>
              </a:rPr>
              <a:t>Saudi Actions Phase:</a:t>
            </a:r>
          </a:p>
          <a:p>
            <a:pPr lvl="1"/>
            <a:r>
              <a:rPr lang="en-GB" dirty="0">
                <a:latin typeface="Berkeley Book" panose="02020500000000000000" pitchFamily="18" charset="0"/>
              </a:rPr>
              <a:t>possible actions see table above</a:t>
            </a:r>
            <a:endParaRPr sz="950" b="1" dirty="0">
              <a:latin typeface="Vinque" panose="020E0603000000020003" pitchFamily="34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572915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24921</TotalTime>
  <Words>261</Words>
  <Application>Microsoft Office PowerPoint</Application>
  <PresentationFormat>Custom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Arial MT</vt:lpstr>
      <vt:lpstr>Berkeley Book</vt:lpstr>
      <vt:lpstr>Calibri</vt:lpstr>
      <vt:lpstr>Vinque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Mike Richardson</dc:creator>
  <cp:lastModifiedBy>Mike Richardson</cp:lastModifiedBy>
  <cp:revision>100</cp:revision>
  <dcterms:created xsi:type="dcterms:W3CDTF">2026-02-15T09:03:45Z</dcterms:created>
  <dcterms:modified xsi:type="dcterms:W3CDTF">2026-10-20T10:22:44Z</dcterms:modified>
</cp:coreProperties>
</file>
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6E22-4B45-6342-210D-E242B09DD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3FD67-5170-57F8-F38F-FD4066AF6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EC9A2-0F47-8E5E-704C-042A0A53D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7F891-0AC1-247C-3576-DD6A21C8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390D-921C-7B7F-3F0F-5C424B64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4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ABFB-F542-9472-4B0A-B9004F18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93E0E-651F-6358-AEF5-5F137B4CC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80329-7E17-7EDF-DAC8-683C13A8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9823B-D0B9-4EC8-BEAE-6BB918BF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FF55-933F-6BC5-1D27-E4886DBF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51D2-9C24-CEAB-D466-53B99213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AD5EC-1FFE-9FA3-2A69-94CAF7384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89017-1DD9-208A-20F9-8B4E4ED4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5764F-C756-BD2D-453F-856CCF31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E7AB3-C32E-B4AF-F6D9-7ACC0FB1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7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0792C-E4DD-EE39-4140-93641CAF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06DA-393E-D2F3-A939-3B5958509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4C3BB-7684-BF91-6E68-8536F2B90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8ABCB-EDA4-B27F-4F6F-F8B640EE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FD7E4-5F67-5EE0-E070-72D45F98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B18A6-D278-7561-0A75-62E22AC5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5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6444-31A4-E6A3-6356-D0892540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12685-CF1C-BAF7-F531-DFF3624AC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E9D74-CECD-1DEA-2E29-C359EE825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BD7E3-D23C-EEF1-AC6C-DEFE8C565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15ED3-40E4-64CD-E858-E1831CD480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6D0F9-B7D0-8D05-9A4B-8F01EE6D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A42B94-0DD2-1F97-0DAB-8B02E1555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A6597A-F503-EFFD-8FA1-F7C2EA75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7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4E86-6F2F-3834-7473-ACD60711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E914B-D07E-D42C-374E-3F31BAB0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E3CB1-C803-0024-FA8D-D7409F6C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4B71D-21FE-39FC-EA2C-C87BE0D95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1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445CF-D08F-7595-9EB5-8C9A71F2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6D819-C2C2-02DF-73A2-C4C31B5A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888A5-613B-7810-6CAF-01D09966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7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A48E-C133-B945-91B9-A1CC2E02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53064-3E86-B65E-6BB8-71E772F6D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FC13B-BAEB-43A9-C9C1-1526A6DE1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B9ACB-8234-2D71-CBF5-0BF161CE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4BDCF-A371-7787-5E23-77EE8C4F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3064B-6198-277C-CC10-CE24C6D6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3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AA0F-DCCC-529F-5289-477B1FE99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92755-583E-03AE-66EC-8DB188184D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FD70-4967-BA82-5ED7-D5AB6863B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10645-FD9C-F6F8-11C8-71DF5588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A6729-95C9-67F9-0057-22B7E42D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25AE-F5AE-C565-E967-501A485C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0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F87B-EF75-2798-4409-50E34F59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CCCCD-E595-8524-549E-048FB95BE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14264-3128-0CEE-6B2D-56E930EE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6B9B9-1F68-146A-5FC7-4971D492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36B98-BB8E-AD8D-27A4-53B2E259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1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9F340-0EE6-76C0-DBB3-DC45FC0DC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8B84F-B569-AD86-A0C6-137B78DEA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617B2-F6DE-4EC8-CE82-3042F28D4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9C475-51B1-30D1-3CFF-1D36BD241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E3E0B-1A8B-3B58-5CBB-8CA1E20B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7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36DD7-D1DF-1AB9-10EE-10C69C7C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FA9BE-65BC-770E-184A-9AA7DB430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B53D0-D298-814E-5DC7-7A9433B4C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FBD42-A66B-4F08-8394-AAC3833010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C1DF1-CA39-36DB-6107-0BF4958DC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CAE97-BC9B-AB60-585E-41B2D4A21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65A79-E3E9-45B2-BFAD-B0D4F8ED7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0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7272B7-AE44-F1A2-D569-B77A5AD90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585626"/>
              </p:ext>
            </p:extLst>
          </p:nvPr>
        </p:nvGraphicFramePr>
        <p:xfrm>
          <a:off x="2032000" y="88070"/>
          <a:ext cx="8128000" cy="652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493720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81398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TERRAIN  TYPE / ICON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TERRAIN VALUE / 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1458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SETTLEMENT/ </a:t>
                      </a:r>
                    </a:p>
                    <a:p>
                      <a:pPr algn="l"/>
                      <a:r>
                        <a:rPr lang="en-US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4105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STRONGHOLD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86598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RAVINE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54028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CITADEL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58295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SUPPLY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-2 Supply</a:t>
                      </a:r>
                      <a:r>
                        <a:rPr lang="en-US" sz="2000" dirty="0"/>
                        <a:t> </a:t>
                      </a:r>
                    </a:p>
                    <a:p>
                      <a:pPr algn="ctr"/>
                      <a:r>
                        <a:rPr lang="en-US" sz="2000" dirty="0"/>
                        <a:t>when captured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3551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MORALE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-1 </a:t>
                      </a:r>
                      <a:r>
                        <a:rPr lang="en-US" sz="4400" b="0" dirty="0"/>
                        <a:t>Morale</a:t>
                      </a:r>
                      <a:r>
                        <a:rPr lang="en-US" sz="2000" dirty="0"/>
                        <a:t> </a:t>
                      </a:r>
                    </a:p>
                    <a:p>
                      <a:pPr algn="ctr"/>
                      <a:r>
                        <a:rPr lang="en-US" sz="2000" dirty="0"/>
                        <a:t>when captured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36509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28EA568-74CB-FCFD-2E06-E9077BD6C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427" y="525483"/>
            <a:ext cx="1495979" cy="9145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AED0D1-740B-A1D4-C577-EADD1D762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324" y="1519791"/>
            <a:ext cx="1432183" cy="9301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B69D8A-CE14-3DA0-F542-1C6757E98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324" y="2529702"/>
            <a:ext cx="1464082" cy="9145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414671-3011-E486-68D6-6C5F2340B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222" y="3520898"/>
            <a:ext cx="1432184" cy="894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12EAE3-ADE2-ABBE-C5F9-679A7E1CF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18" y="5635748"/>
            <a:ext cx="893093" cy="909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D97F5-3452-1443-1DCB-4AB72C2AAC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2109" y="4491697"/>
            <a:ext cx="1059825" cy="110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2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80587-8D0E-8D21-BFA5-74D0870B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2C942F-9171-5DE1-877F-9F4094E82632}"/>
              </a:ext>
            </a:extLst>
          </p:cNvPr>
          <p:cNvSpPr txBox="1"/>
          <p:nvPr/>
        </p:nvSpPr>
        <p:spPr>
          <a:xfrm>
            <a:off x="3048730" y="63148"/>
            <a:ext cx="6353738" cy="767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Vinque" panose="020E0603000000020003" pitchFamily="34" charset="0"/>
              </a:rPr>
              <a:t>SIEGE OF DIRIYAH</a:t>
            </a:r>
          </a:p>
          <a:p>
            <a:pPr algn="ctr"/>
            <a:r>
              <a:rPr lang="en-US" sz="1400" dirty="0">
                <a:latin typeface="Vinque" panose="020E0603000000020003" pitchFamily="34" charset="0"/>
              </a:rPr>
              <a:t> COMMAND POINT (CP)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9FF0A9-BCFC-930B-B8AC-659604295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529267"/>
              </p:ext>
            </p:extLst>
          </p:nvPr>
        </p:nvGraphicFramePr>
        <p:xfrm>
          <a:off x="1826559" y="830730"/>
          <a:ext cx="9543190" cy="5563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483">
                  <a:extLst>
                    <a:ext uri="{9D8B030D-6E8A-4147-A177-3AD203B41FA5}">
                      <a16:colId xmlns:a16="http://schemas.microsoft.com/office/drawing/2014/main" val="4278384525"/>
                    </a:ext>
                  </a:extLst>
                </a:gridCol>
                <a:gridCol w="2346251">
                  <a:extLst>
                    <a:ext uri="{9D8B030D-6E8A-4147-A177-3AD203B41FA5}">
                      <a16:colId xmlns:a16="http://schemas.microsoft.com/office/drawing/2014/main" val="1255239430"/>
                    </a:ext>
                  </a:extLst>
                </a:gridCol>
                <a:gridCol w="5330456">
                  <a:extLst>
                    <a:ext uri="{9D8B030D-6E8A-4147-A177-3AD203B41FA5}">
                      <a16:colId xmlns:a16="http://schemas.microsoft.com/office/drawing/2014/main" val="1585304879"/>
                    </a:ext>
                  </a:extLst>
                </a:gridCol>
              </a:tblGrid>
              <a:tr h="3643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ACTION</a:t>
                      </a: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CP COST</a:t>
                      </a:r>
                    </a:p>
                  </a:txBody>
                  <a:tcPr marL="80682" marR="80682" marT="40341" marB="40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EFFECT</a:t>
                      </a:r>
                    </a:p>
                  </a:txBody>
                  <a:tcPr marL="80682" marR="80682" marT="40341" marB="40341"/>
                </a:tc>
                <a:extLst>
                  <a:ext uri="{0D108BD9-81ED-4DB2-BD59-A6C34878D82A}">
                    <a16:rowId xmlns:a16="http://schemas.microsoft.com/office/drawing/2014/main" val="283769681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SUPPLY</a:t>
                      </a:r>
                    </a:p>
                  </a:txBody>
                  <a:tcPr marL="80682" marR="80682" marT="40341" marB="4034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 CP PER SUPPLY POINT</a:t>
                      </a:r>
                    </a:p>
                  </a:txBody>
                  <a:tcPr marL="80682" marR="80682" marT="40341" marB="4034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SUPPLY BY PURCHASED AMOUNT</a:t>
                      </a:r>
                    </a:p>
                  </a:txBody>
                  <a:tcPr marL="80682" marR="80682" marT="40341" marB="4034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136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MORALE</a:t>
                      </a:r>
                    </a:p>
                  </a:txBody>
                  <a:tcPr marL="80682" marR="80682" marT="40341" marB="4034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 CP PER MORALE POINT</a:t>
                      </a:r>
                    </a:p>
                  </a:txBody>
                  <a:tcPr marL="80682" marR="80682" marT="40341" marB="4034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MORALE BY PURCHASED AMOUNT</a:t>
                      </a:r>
                    </a:p>
                  </a:txBody>
                  <a:tcPr marL="80682" marR="80682" marT="40341" marB="4034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458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ARTILLERY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 CP PER ARTILLERY CARD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PLACE MARKER(S) IN RESERVE; DEPLOY WHEN NEEDED;</a:t>
                      </a:r>
                    </a:p>
                    <a:p>
                      <a:pPr algn="ctr"/>
                      <a:r>
                        <a:rPr lang="en-US" sz="1400" dirty="0"/>
                        <a:t>NEGATES ONE ARTILLERY ATTACK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813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INFANTRY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CP PER INFANTRY POINT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DEPLOY INFANTRY MARKER(S) TO MAP OR RESERVE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765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COMMAND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CP PER LEADER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DEPLOY LEADER(S) TO MAP OR RESERVE</a:t>
                      </a:r>
                    </a:p>
                  </a:txBody>
                  <a:tcPr marL="80682" marR="80682" marT="40341" marB="4034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8475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FORTIFICATIONS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 CP PER SIEGE LEVEL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 SIEGE LEVEL OF SPACE (UP TO MAX 4)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0314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TRENCHES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 CP PER TRENCH MARKER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DEPLOY </a:t>
                      </a:r>
                      <a:r>
                        <a:rPr lang="en-US" sz="1400"/>
                        <a:t>TRENCH MARKER </a:t>
                      </a:r>
                      <a:r>
                        <a:rPr lang="en-US" sz="1400" dirty="0"/>
                        <a:t>TO ANY SPACE (1 PER SPACE)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516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COUNTER-MINING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CP PER 2 MARKERS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PLACE IN RESERVE; DEPLOY WHEN NEEDED;</a:t>
                      </a:r>
                    </a:p>
                    <a:p>
                      <a:pPr algn="ctr"/>
                      <a:r>
                        <a:rPr lang="en-US" sz="1400" dirty="0"/>
                        <a:t>NEGATES OTTOMAN MINING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2816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BREACH REPAIR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 CP PER MARKER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80682" marR="80682" marT="40341" marB="40341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PLACE IN RESERVE; DEPLOY WHEN NEEDED;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NEGATES BREACH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80682" marR="80682" marT="40341" marB="40341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23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COUNTER-TUNNELING</a:t>
                      </a:r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 CP PER 2 MARKERS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PLACE IN RESERVE; DEPLOY WHEN NEEDED;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NEGATES OTTOMAN TUNNELS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80682" marR="80682" marT="40341" marB="40341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78277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CAACEF7-F7B6-38C2-9911-2D36E3F16B03}"/>
              </a:ext>
            </a:extLst>
          </p:cNvPr>
          <p:cNvSpPr txBox="1"/>
          <p:nvPr/>
        </p:nvSpPr>
        <p:spPr>
          <a:xfrm rot="16200000">
            <a:off x="737653" y="4370834"/>
            <a:ext cx="1793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E28E5-04B3-882D-F59E-97041852E829}"/>
              </a:ext>
            </a:extLst>
          </p:cNvPr>
          <p:cNvSpPr txBox="1"/>
          <p:nvPr/>
        </p:nvSpPr>
        <p:spPr>
          <a:xfrm rot="16200000">
            <a:off x="1038539" y="2295981"/>
            <a:ext cx="1191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MILITARY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77995-952A-BE2A-33B6-3CDCDF5E57C4}"/>
              </a:ext>
            </a:extLst>
          </p:cNvPr>
          <p:cNvSpPr txBox="1"/>
          <p:nvPr/>
        </p:nvSpPr>
        <p:spPr>
          <a:xfrm rot="16200000">
            <a:off x="984859" y="1341702"/>
            <a:ext cx="1298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3391893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3506</TotalTime>
  <Words>208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Vinque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Richardson</dc:creator>
  <cp:lastModifiedBy>Mike Richardson</cp:lastModifiedBy>
  <cp:revision>10</cp:revision>
  <dcterms:created xsi:type="dcterms:W3CDTF">2026-06-11T07:23:53Z</dcterms:created>
  <dcterms:modified xsi:type="dcterms:W3CDTF">2026-06-15T09:57:51Z</dcterms:modified>
</cp:coreProperties>
</file>
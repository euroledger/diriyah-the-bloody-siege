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2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2" autoAdjust="0"/>
    <p:restoredTop sz="94660"/>
  </p:normalViewPr>
  <p:slideViewPr>
    <p:cSldViewPr snapToGrid="0">
      <p:cViewPr varScale="1">
        <p:scale>
          <a:sx n="90" d="100"/>
          <a:sy n="90" d="100"/>
        </p:scale>
        <p:origin x="84" y="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C96E22-4B45-6342-210D-E242B09DD5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5A3FD67-5170-57F8-F38F-FD4066AF6D4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6" indent="0" algn="ctr">
              <a:buNone/>
              <a:defRPr sz="2000"/>
            </a:lvl2pPr>
            <a:lvl3pPr marL="914411" indent="0" algn="ctr">
              <a:buNone/>
              <a:defRPr sz="1801"/>
            </a:lvl3pPr>
            <a:lvl4pPr marL="1371617" indent="0" algn="ctr">
              <a:buNone/>
              <a:defRPr sz="1600"/>
            </a:lvl4pPr>
            <a:lvl5pPr marL="1828823" indent="0" algn="ctr">
              <a:buNone/>
              <a:defRPr sz="1600"/>
            </a:lvl5pPr>
            <a:lvl6pPr marL="2286029" indent="0" algn="ctr">
              <a:buNone/>
              <a:defRPr sz="1600"/>
            </a:lvl6pPr>
            <a:lvl7pPr marL="2743234" indent="0" algn="ctr">
              <a:buNone/>
              <a:defRPr sz="1600"/>
            </a:lvl7pPr>
            <a:lvl8pPr marL="3200440" indent="0" algn="ctr">
              <a:buNone/>
              <a:defRPr sz="1600"/>
            </a:lvl8pPr>
            <a:lvl9pPr marL="3657646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4EC9A2-0F47-8E5E-704C-042A0A53DB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CFBD42-A66B-4F08-8394-AAC38330109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27F891-0AC1-247C-3576-DD6A21C8A1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BF390D-921C-7B7F-3F0F-5C424B6490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265A79-E3E9-45B2-BFAD-B0D4F8ED7D5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11466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84ABFB-F542-9472-4B0A-B9004F1805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93E0E-651F-6358-AEF5-5F137B4CC1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880329-7E17-7EDF-DAC8-683C13A819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CFBD42-A66B-4F08-8394-AAC38330109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D9823B-D0B9-4EC8-BEAE-6BB918BF91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FFFF55-933F-6BC5-1D27-E4886DBFFE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265A79-E3E9-45B2-BFAD-B0D4F8ED7D5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70918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5C51D2-9C24-CEAB-D466-53B992137C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2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3DAD5EC-1FFE-9FA3-2A69-94CAF73840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2" y="4589464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6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11" indent="0">
              <a:buNone/>
              <a:defRPr sz="1801">
                <a:solidFill>
                  <a:schemeClr val="tx1">
                    <a:tint val="82000"/>
                  </a:schemeClr>
                </a:solidFill>
              </a:defRPr>
            </a:lvl3pPr>
            <a:lvl4pPr marL="1371617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23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29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34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4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46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D89017-1DD9-208A-20F9-8B4E4ED49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CFBD42-A66B-4F08-8394-AAC38330109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D5764F-C756-BD2D-453F-856CCF31D8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7E7AB3-C32E-B4AF-F6D9-7ACC0FB19A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265A79-E3E9-45B2-BFAD-B0D4F8ED7D5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4978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D0792C-E4DD-EE39-4140-93641CAF20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3106DA-393E-D2F3-A939-3B5958509A7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1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0B4C3BB-7684-BF91-6E68-8536F2B9044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0B8ABCB-EDA4-B27F-4F6F-F8B640EE59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CFBD42-A66B-4F08-8394-AAC38330109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0FFD7E4-5F67-5EE0-E070-72D45F9891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0B18A6-D278-7561-0A75-62E22AC556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265A79-E3E9-45B2-BFAD-B0D4F8ED7D5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88543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016444-31A4-E6A3-6356-D0892540F6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365126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AE12685-CF1C-BAF7-F531-DFF3624AC2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9" y="1681164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6" indent="0">
              <a:buNone/>
              <a:defRPr sz="2000" b="1"/>
            </a:lvl2pPr>
            <a:lvl3pPr marL="914411" indent="0">
              <a:buNone/>
              <a:defRPr sz="1801" b="1"/>
            </a:lvl3pPr>
            <a:lvl4pPr marL="1371617" indent="0">
              <a:buNone/>
              <a:defRPr sz="1600" b="1"/>
            </a:lvl4pPr>
            <a:lvl5pPr marL="1828823" indent="0">
              <a:buNone/>
              <a:defRPr sz="1600" b="1"/>
            </a:lvl5pPr>
            <a:lvl6pPr marL="2286029" indent="0">
              <a:buNone/>
              <a:defRPr sz="1600" b="1"/>
            </a:lvl6pPr>
            <a:lvl7pPr marL="2743234" indent="0">
              <a:buNone/>
              <a:defRPr sz="1600" b="1"/>
            </a:lvl7pPr>
            <a:lvl8pPr marL="3200440" indent="0">
              <a:buNone/>
              <a:defRPr sz="1600" b="1"/>
            </a:lvl8pPr>
            <a:lvl9pPr marL="3657646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FE9D74-CECD-1DEA-2E29-C359EE82538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9" y="2505076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0ABD7E3-D23C-EEF1-AC6C-DEFE8C56541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2" y="1681164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6" indent="0">
              <a:buNone/>
              <a:defRPr sz="2000" b="1"/>
            </a:lvl2pPr>
            <a:lvl3pPr marL="914411" indent="0">
              <a:buNone/>
              <a:defRPr sz="1801" b="1"/>
            </a:lvl3pPr>
            <a:lvl4pPr marL="1371617" indent="0">
              <a:buNone/>
              <a:defRPr sz="1600" b="1"/>
            </a:lvl4pPr>
            <a:lvl5pPr marL="1828823" indent="0">
              <a:buNone/>
              <a:defRPr sz="1600" b="1"/>
            </a:lvl5pPr>
            <a:lvl6pPr marL="2286029" indent="0">
              <a:buNone/>
              <a:defRPr sz="1600" b="1"/>
            </a:lvl6pPr>
            <a:lvl7pPr marL="2743234" indent="0">
              <a:buNone/>
              <a:defRPr sz="1600" b="1"/>
            </a:lvl7pPr>
            <a:lvl8pPr marL="3200440" indent="0">
              <a:buNone/>
              <a:defRPr sz="1600" b="1"/>
            </a:lvl8pPr>
            <a:lvl9pPr marL="3657646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9315ED3-40E4-64CD-E858-E1831CD4805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2505076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3C6D0F9-B7D0-8D05-9A4B-8F01EE6D8A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CFBD42-A66B-4F08-8394-AAC38330109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2A42B94-0DD2-1F97-0DAB-8B02E1555D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DA6597A-F503-EFFD-8FA1-F7C2EA7533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265A79-E3E9-45B2-BFAD-B0D4F8ED7D5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58767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A04E86-6F2F-3834-7473-ACD60711FC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DEE914B-D07E-D42C-374E-3F31BAB0FC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CFBD42-A66B-4F08-8394-AAC38330109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94E3CB1-C803-0024-FA8D-D7409F6C95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104B71D-21FE-39FC-EA2C-C87BE0D955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265A79-E3E9-45B2-BFAD-B0D4F8ED7D5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42149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0B445CF-D08F-7595-9EB5-8C9A71F2BE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CFBD42-A66B-4F08-8394-AAC38330109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4C6D819-C2C2-02DF-73A2-C4C31B5A47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4888A5-613B-7810-6CAF-01D09966C2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265A79-E3E9-45B2-BFAD-B0D4F8ED7D5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93789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08A48E-C133-B945-91B9-A1CC2E0279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90" y="457200"/>
            <a:ext cx="3932236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D53064-3E86-B65E-6BB8-71E772F6D5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6"/>
            <a:ext cx="6172201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9FFC13B-BAEB-43A9-C9C1-1526A6DE187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90" y="2057400"/>
            <a:ext cx="3932236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6" indent="0">
              <a:buNone/>
              <a:defRPr sz="1401"/>
            </a:lvl2pPr>
            <a:lvl3pPr marL="914411" indent="0">
              <a:buNone/>
              <a:defRPr sz="1200"/>
            </a:lvl3pPr>
            <a:lvl4pPr marL="1371617" indent="0">
              <a:buNone/>
              <a:defRPr sz="1001"/>
            </a:lvl4pPr>
            <a:lvl5pPr marL="1828823" indent="0">
              <a:buNone/>
              <a:defRPr sz="1001"/>
            </a:lvl5pPr>
            <a:lvl6pPr marL="2286029" indent="0">
              <a:buNone/>
              <a:defRPr sz="1001"/>
            </a:lvl6pPr>
            <a:lvl7pPr marL="2743234" indent="0">
              <a:buNone/>
              <a:defRPr sz="1001"/>
            </a:lvl7pPr>
            <a:lvl8pPr marL="3200440" indent="0">
              <a:buNone/>
              <a:defRPr sz="1001"/>
            </a:lvl8pPr>
            <a:lvl9pPr marL="3657646" indent="0">
              <a:buNone/>
              <a:defRPr sz="100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0EB9ACB-8234-2D71-CBF5-0BF161CE9E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CFBD42-A66B-4F08-8394-AAC38330109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8C4BDCF-A371-7787-5E23-77EE8C4F7B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A83064B-6198-277C-CC10-CE24C6D662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265A79-E3E9-45B2-BFAD-B0D4F8ED7D5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43397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2CAA0F-DCCC-529F-5289-477B1FE99D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90" y="457200"/>
            <a:ext cx="3932236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7392755-583E-03AE-66EC-8DB188184D7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6"/>
            <a:ext cx="6172201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6" indent="0">
              <a:buNone/>
              <a:defRPr sz="2800"/>
            </a:lvl2pPr>
            <a:lvl3pPr marL="914411" indent="0">
              <a:buNone/>
              <a:defRPr sz="2400"/>
            </a:lvl3pPr>
            <a:lvl4pPr marL="1371617" indent="0">
              <a:buNone/>
              <a:defRPr sz="2000"/>
            </a:lvl4pPr>
            <a:lvl5pPr marL="1828823" indent="0">
              <a:buNone/>
              <a:defRPr sz="2000"/>
            </a:lvl5pPr>
            <a:lvl6pPr marL="2286029" indent="0">
              <a:buNone/>
              <a:defRPr sz="2000"/>
            </a:lvl6pPr>
            <a:lvl7pPr marL="2743234" indent="0">
              <a:buNone/>
              <a:defRPr sz="2000"/>
            </a:lvl7pPr>
            <a:lvl8pPr marL="3200440" indent="0">
              <a:buNone/>
              <a:defRPr sz="2000"/>
            </a:lvl8pPr>
            <a:lvl9pPr marL="3657646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D73FD70-4967-BA82-5ED7-D5AB6863BA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90" y="2057400"/>
            <a:ext cx="3932236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6" indent="0">
              <a:buNone/>
              <a:defRPr sz="1401"/>
            </a:lvl2pPr>
            <a:lvl3pPr marL="914411" indent="0">
              <a:buNone/>
              <a:defRPr sz="1200"/>
            </a:lvl3pPr>
            <a:lvl4pPr marL="1371617" indent="0">
              <a:buNone/>
              <a:defRPr sz="1001"/>
            </a:lvl4pPr>
            <a:lvl5pPr marL="1828823" indent="0">
              <a:buNone/>
              <a:defRPr sz="1001"/>
            </a:lvl5pPr>
            <a:lvl6pPr marL="2286029" indent="0">
              <a:buNone/>
              <a:defRPr sz="1001"/>
            </a:lvl6pPr>
            <a:lvl7pPr marL="2743234" indent="0">
              <a:buNone/>
              <a:defRPr sz="1001"/>
            </a:lvl7pPr>
            <a:lvl8pPr marL="3200440" indent="0">
              <a:buNone/>
              <a:defRPr sz="1001"/>
            </a:lvl8pPr>
            <a:lvl9pPr marL="3657646" indent="0">
              <a:buNone/>
              <a:defRPr sz="100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7310645-FD9C-F6F8-11C8-71DF55883E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CFBD42-A66B-4F08-8394-AAC38330109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CA6729-95C9-67F9-0057-22B7E42DF7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1B25AE-F5AE-C565-E967-501A485CF6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265A79-E3E9-45B2-BFAD-B0D4F8ED7D5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56043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6DF87B-EF75-2798-4409-50E34F59D5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5FCCCCD-E595-8524-549E-048FB95BE10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A14264-3128-0CEE-6B2D-56E930EE5C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CFBD42-A66B-4F08-8394-AAC38330109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76B9B9-1F68-146A-5FC7-4971D492F8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336B98-BB8E-AD8D-27A4-53B2E25978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265A79-E3E9-45B2-BFAD-B0D4F8ED7D5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72161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EF9F340-0EE6-76C0-DBB3-DC45FC0DC4B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899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E38B84F-B569-AD86-A0C6-137B78DEA3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199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C617B2-F6DE-4EC8-CE82-3042F28D45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CFBD42-A66B-4F08-8394-AAC38330109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49C475-51B1-30D1-3CFF-1D36BD2410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8E3E0B-1A8B-3B58-5CBB-8CA1E20B0D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265A79-E3E9-45B2-BFAD-B0D4F8ED7D5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49781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6936DD7-D1DF-1AB9-10EE-10C69C7C9C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2" y="36512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9DFA9BE-65BC-770E-184A-9AA7DB430C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2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BB53D0-D298-814E-5DC7-7A9433B4C61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1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6CFBD42-A66B-4F08-8394-AAC38330109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AC1DF1-CA39-36DB-6107-0BF4958DCF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2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7CAE97-BC9B-AB60-585E-41B2D4A2177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1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9265A79-E3E9-45B2-BFAD-B0D4F8ED7D5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51051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11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4" indent="-228604" algn="l" defTabSz="914411" rtl="0" eaLnBrk="1" latinLnBrk="0" hangingPunct="1">
        <a:lnSpc>
          <a:spcPct val="90000"/>
        </a:lnSpc>
        <a:spcBef>
          <a:spcPts val="1001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9" indent="-228604" algn="l" defTabSz="914411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15" indent="-228604" algn="l" defTabSz="914411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21" indent="-228604" algn="l" defTabSz="914411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4pPr>
      <a:lvl5pPr marL="2057427" indent="-228604" algn="l" defTabSz="914411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5pPr>
      <a:lvl6pPr marL="2514632" indent="-228604" algn="l" defTabSz="914411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971838" indent="-228604" algn="l" defTabSz="914411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429044" indent="-228604" algn="l" defTabSz="914411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886249" indent="-228604" algn="l" defTabSz="914411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11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1pPr>
      <a:lvl2pPr marL="457206" algn="l" defTabSz="914411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2pPr>
      <a:lvl3pPr marL="914411" algn="l" defTabSz="914411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3pPr>
      <a:lvl4pPr marL="1371617" algn="l" defTabSz="914411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4pPr>
      <a:lvl5pPr marL="1828823" algn="l" defTabSz="914411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5pPr>
      <a:lvl6pPr marL="2286029" algn="l" defTabSz="914411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743234" algn="l" defTabSz="914411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200440" algn="l" defTabSz="914411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657646" algn="l" defTabSz="914411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17272B7-AE44-F1A2-D569-B77A5AD9018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14585626"/>
              </p:ext>
            </p:extLst>
          </p:nvPr>
        </p:nvGraphicFramePr>
        <p:xfrm>
          <a:off x="2032000" y="88070"/>
          <a:ext cx="8128000" cy="6527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3449372082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68139874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TERRAIN  TYPE / ICON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TERRAIN VALUE / EFFECT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9414584"/>
                  </a:ext>
                </a:extLst>
              </a:tr>
              <a:tr h="1005840"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SETTLEMENT/ </a:t>
                      </a:r>
                    </a:p>
                    <a:p>
                      <a:pPr algn="l"/>
                      <a:r>
                        <a:rPr lang="en-US" dirty="0"/>
                        <a:t>APPROACH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600" dirty="0"/>
                        <a:t> 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1441054"/>
                  </a:ext>
                </a:extLst>
              </a:tr>
              <a:tr h="1005840"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STRONGHOLD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400" dirty="0"/>
                        <a:t>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72865982"/>
                  </a:ext>
                </a:extLst>
              </a:tr>
              <a:tr h="1005840"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RAVINE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400" dirty="0"/>
                        <a:t>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07540283"/>
                  </a:ext>
                </a:extLst>
              </a:tr>
              <a:tr h="1005840"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CITADEL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400" dirty="0"/>
                        <a:t>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41582951"/>
                  </a:ext>
                </a:extLst>
              </a:tr>
              <a:tr h="1005840"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SUPPLY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400" dirty="0"/>
                        <a:t>-2 Supply</a:t>
                      </a:r>
                      <a:r>
                        <a:rPr lang="en-US" sz="2000" dirty="0"/>
                        <a:t> </a:t>
                      </a:r>
                    </a:p>
                    <a:p>
                      <a:pPr algn="ctr"/>
                      <a:r>
                        <a:rPr lang="en-US" sz="2000" dirty="0"/>
                        <a:t>when captured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2835512"/>
                  </a:ext>
                </a:extLst>
              </a:tr>
              <a:tr h="1005840"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MORALE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400" dirty="0"/>
                        <a:t>-1 </a:t>
                      </a:r>
                      <a:r>
                        <a:rPr lang="en-US" sz="4400" b="0" dirty="0"/>
                        <a:t>Morale</a:t>
                      </a:r>
                      <a:r>
                        <a:rPr lang="en-US" sz="2000" dirty="0"/>
                        <a:t> </a:t>
                      </a:r>
                    </a:p>
                    <a:p>
                      <a:pPr algn="ctr"/>
                      <a:r>
                        <a:rPr lang="en-US" sz="2000" dirty="0"/>
                        <a:t>when captured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80365095"/>
                  </a:ext>
                </a:extLst>
              </a:tr>
            </a:tbl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128EA568-74CB-FCFD-2E06-E9077BD6CF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7427" y="525483"/>
            <a:ext cx="1495979" cy="91452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DAED0D1-740B-A1D4-C577-EADD1D7621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49324" y="1519791"/>
            <a:ext cx="1432183" cy="93012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4B69D8A-CE14-3DA0-F542-1C6757E98DE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49324" y="2529702"/>
            <a:ext cx="1464082" cy="914523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C6414671-3011-E486-68D6-6C5F2340B40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81222" y="3520898"/>
            <a:ext cx="1432184" cy="894126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8212EAE3-ADE2-ABBE-C5F9-679A7E1CF9D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34818" y="5635748"/>
            <a:ext cx="893093" cy="90933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FDD97F5-3452-1443-1DCB-4AB72C2AACB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72109" y="4491697"/>
            <a:ext cx="1059825" cy="11063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07228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880587-8D0E-8D21-BFA5-74D0870BFC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E52C942F-9171-5DE1-877F-9F4094E82632}"/>
              </a:ext>
            </a:extLst>
          </p:cNvPr>
          <p:cNvSpPr txBox="1"/>
          <p:nvPr/>
        </p:nvSpPr>
        <p:spPr>
          <a:xfrm>
            <a:off x="3048730" y="63148"/>
            <a:ext cx="6353738" cy="7675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latin typeface="Vinque" panose="020E0603000000020003" pitchFamily="34" charset="0"/>
              </a:rPr>
              <a:t>SIEGE OF DIRIYAH</a:t>
            </a:r>
          </a:p>
          <a:p>
            <a:pPr algn="ctr"/>
            <a:r>
              <a:rPr lang="en-US" sz="1400" dirty="0">
                <a:latin typeface="Vinque" panose="020E0603000000020003" pitchFamily="34" charset="0"/>
              </a:rPr>
              <a:t> COMMAND POINT (CP) TABLE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779FF0A9-BCFC-930B-B8AC-659604295D4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62683659"/>
              </p:ext>
            </p:extLst>
          </p:nvPr>
        </p:nvGraphicFramePr>
        <p:xfrm>
          <a:off x="1826559" y="830730"/>
          <a:ext cx="9543190" cy="556385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66483">
                  <a:extLst>
                    <a:ext uri="{9D8B030D-6E8A-4147-A177-3AD203B41FA5}">
                      <a16:colId xmlns:a16="http://schemas.microsoft.com/office/drawing/2014/main" val="4278384525"/>
                    </a:ext>
                  </a:extLst>
                </a:gridCol>
                <a:gridCol w="2346251">
                  <a:extLst>
                    <a:ext uri="{9D8B030D-6E8A-4147-A177-3AD203B41FA5}">
                      <a16:colId xmlns:a16="http://schemas.microsoft.com/office/drawing/2014/main" val="1255239430"/>
                    </a:ext>
                  </a:extLst>
                </a:gridCol>
                <a:gridCol w="5330456">
                  <a:extLst>
                    <a:ext uri="{9D8B030D-6E8A-4147-A177-3AD203B41FA5}">
                      <a16:colId xmlns:a16="http://schemas.microsoft.com/office/drawing/2014/main" val="1585304879"/>
                    </a:ext>
                  </a:extLst>
                </a:gridCol>
              </a:tblGrid>
              <a:tr h="364323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ACTION</a:t>
                      </a:r>
                    </a:p>
                  </a:txBody>
                  <a:tcPr marL="80682" marR="80682" marT="40341" marB="40341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CP COST</a:t>
                      </a:r>
                    </a:p>
                  </a:txBody>
                  <a:tcPr marL="80682" marR="80682" marT="40341" marB="40341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EFFECT</a:t>
                      </a:r>
                    </a:p>
                  </a:txBody>
                  <a:tcPr marL="80682" marR="80682" marT="40341" marB="40341"/>
                </a:tc>
                <a:extLst>
                  <a:ext uri="{0D108BD9-81ED-4DB2-BD59-A6C34878D82A}">
                    <a16:rowId xmlns:a16="http://schemas.microsoft.com/office/drawing/2014/main" val="2837696818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INCREASE SUPPLY</a:t>
                      </a:r>
                    </a:p>
                  </a:txBody>
                  <a:tcPr marL="80682" marR="80682" marT="40341" marB="40341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 CP PER SUPPLY POINT</a:t>
                      </a:r>
                    </a:p>
                  </a:txBody>
                  <a:tcPr marL="80682" marR="80682" marT="40341" marB="40341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INCREASE SUPPLY BY PURCHASED AMOUNT</a:t>
                      </a:r>
                    </a:p>
                  </a:txBody>
                  <a:tcPr marL="80682" marR="80682" marT="40341" marB="40341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681364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INCREASE MORALE</a:t>
                      </a:r>
                    </a:p>
                  </a:txBody>
                  <a:tcPr marL="80682" marR="80682" marT="40341" marB="40341"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 CP PER MORALE POINT</a:t>
                      </a:r>
                    </a:p>
                  </a:txBody>
                  <a:tcPr marL="80682" marR="80682" marT="40341" marB="40341"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INCREASE MORALE BY PURCHASED AMOUNT</a:t>
                      </a:r>
                    </a:p>
                  </a:txBody>
                  <a:tcPr marL="80682" marR="80682" marT="40341" marB="40341"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2945888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ARTILLERY</a:t>
                      </a:r>
                    </a:p>
                  </a:txBody>
                  <a:tcPr marL="80682" marR="80682" marT="40341" marB="40341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3 CP PER ARTILLERY CARD</a:t>
                      </a:r>
                    </a:p>
                  </a:txBody>
                  <a:tcPr marL="80682" marR="80682" marT="40341" marB="40341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PLACE MARKER(S) IN RESERVE; DEPLOY WHEN NEEDED;</a:t>
                      </a:r>
                    </a:p>
                    <a:p>
                      <a:pPr algn="ctr"/>
                      <a:r>
                        <a:rPr lang="en-US" sz="1400" dirty="0"/>
                        <a:t>NEGATES ONE ARTILLERY ATTACK</a:t>
                      </a:r>
                    </a:p>
                  </a:txBody>
                  <a:tcPr marL="80682" marR="80682" marT="40341" marB="40341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781337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INFANTRY</a:t>
                      </a:r>
                    </a:p>
                  </a:txBody>
                  <a:tcPr marL="80682" marR="80682" marT="40341" marB="40341"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 CP PER INFANTRY POINT</a:t>
                      </a:r>
                    </a:p>
                  </a:txBody>
                  <a:tcPr marL="80682" marR="80682" marT="40341" marB="40341"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DEPLOY INFANTRY MARKER(S) TO MAP OR RESERVE</a:t>
                      </a:r>
                    </a:p>
                  </a:txBody>
                  <a:tcPr marL="80682" marR="80682" marT="40341" marB="40341"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6076598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COMMAND</a:t>
                      </a:r>
                    </a:p>
                  </a:txBody>
                  <a:tcPr marL="80682" marR="80682" marT="40341" marB="40341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 CP PER LEADER</a:t>
                      </a:r>
                    </a:p>
                  </a:txBody>
                  <a:tcPr marL="80682" marR="80682" marT="40341" marB="40341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DEPLOY LEADER(S) TO MAP OR RESERVE</a:t>
                      </a:r>
                    </a:p>
                  </a:txBody>
                  <a:tcPr marL="80682" marR="80682" marT="40341" marB="40341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5847599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FORTIFICATIONS</a:t>
                      </a:r>
                    </a:p>
                  </a:txBody>
                  <a:tcPr marL="80682" marR="80682" marT="40341" marB="40341" anchor="ctr"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4 CP PER SIEGE LEVEL</a:t>
                      </a:r>
                    </a:p>
                  </a:txBody>
                  <a:tcPr marL="80682" marR="80682" marT="40341" marB="40341" anchor="ctr"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INCREASE SIEGE LEVEL OF SPACE (UP TO MAX 4)</a:t>
                      </a:r>
                    </a:p>
                  </a:txBody>
                  <a:tcPr marL="80682" marR="80682" marT="40341" marB="40341" anchor="ctr"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00314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TRENCHES</a:t>
                      </a:r>
                    </a:p>
                  </a:txBody>
                  <a:tcPr marL="80682" marR="80682" marT="40341" marB="40341" anchor="ctr"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 CP PER TRENCH MARKER</a:t>
                      </a:r>
                    </a:p>
                  </a:txBody>
                  <a:tcPr marL="80682" marR="80682" marT="40341" marB="40341" anchor="ctr"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DEPLOY </a:t>
                      </a:r>
                      <a:r>
                        <a:rPr lang="en-US" sz="1400"/>
                        <a:t>TRENCH MARKER </a:t>
                      </a:r>
                      <a:r>
                        <a:rPr lang="en-US" sz="1400" dirty="0"/>
                        <a:t>TO ANY </a:t>
                      </a:r>
                      <a:r>
                        <a:rPr lang="en-US" sz="1400"/>
                        <a:t>SPACE </a:t>
                      </a:r>
                      <a:endParaRPr lang="en-US" sz="1400" dirty="0"/>
                    </a:p>
                  </a:txBody>
                  <a:tcPr marL="80682" marR="80682" marT="40341" marB="40341" anchor="ctr"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3951608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COUNTER-MINING</a:t>
                      </a:r>
                    </a:p>
                  </a:txBody>
                  <a:tcPr marL="80682" marR="80682" marT="40341" marB="40341" anchor="ctr"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 CP PER 2 MARKERS</a:t>
                      </a:r>
                    </a:p>
                  </a:txBody>
                  <a:tcPr marL="80682" marR="80682" marT="40341" marB="40341" anchor="ctr"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PLACE IN RESERVE; DEPLOY WHEN NEEDED;</a:t>
                      </a:r>
                    </a:p>
                    <a:p>
                      <a:pPr algn="ctr"/>
                      <a:r>
                        <a:rPr lang="en-US" sz="1400" dirty="0"/>
                        <a:t>NEGATES OTTOMAN MINING</a:t>
                      </a:r>
                    </a:p>
                  </a:txBody>
                  <a:tcPr marL="80682" marR="80682" marT="40341" marB="40341" anchor="ctr"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128162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BREACH REPAIR</a:t>
                      </a:r>
                    </a:p>
                  </a:txBody>
                  <a:tcPr marL="80682" marR="80682" marT="40341" marB="40341" anchor="ctr"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3 CP PER MARKER</a:t>
                      </a:r>
                    </a:p>
                    <a:p>
                      <a:pPr algn="ctr"/>
                      <a:endParaRPr lang="en-US" sz="1400" dirty="0"/>
                    </a:p>
                  </a:txBody>
                  <a:tcPr marL="80682" marR="80682" marT="40341" marB="40341" anchor="ctr"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PLACE IN RESERVE; DEPLOY WHEN NEEDED;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NEGATES BREACH</a:t>
                      </a:r>
                    </a:p>
                    <a:p>
                      <a:pPr algn="ctr"/>
                      <a:endParaRPr lang="en-US" sz="1400" dirty="0"/>
                    </a:p>
                  </a:txBody>
                  <a:tcPr marL="80682" marR="80682" marT="40341" marB="40341" anchor="ctr"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8723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COUNTER-TUNNELING</a:t>
                      </a:r>
                    </a:p>
                  </a:txBody>
                  <a:tcPr marL="80682" marR="80682" marT="40341" marB="40341" anchor="ctr"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1 CP PER 2 MARKERS</a:t>
                      </a:r>
                    </a:p>
                    <a:p>
                      <a:pPr algn="ctr"/>
                      <a:endParaRPr lang="en-US" sz="1400" dirty="0"/>
                    </a:p>
                  </a:txBody>
                  <a:tcPr marL="80682" marR="80682" marT="40341" marB="40341" anchor="ctr"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PLACE IN RESERVE; DEPLOY WHEN NEEDED;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NEGATES OTTOMAN TUNNELS</a:t>
                      </a:r>
                    </a:p>
                    <a:p>
                      <a:pPr algn="ctr"/>
                      <a:endParaRPr lang="en-US" sz="1400" dirty="0"/>
                    </a:p>
                  </a:txBody>
                  <a:tcPr marL="80682" marR="80682" marT="40341" marB="40341" anchor="ctr"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0782770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2CAACEF7-F7B6-38C2-9911-2D36E3F16B03}"/>
              </a:ext>
            </a:extLst>
          </p:cNvPr>
          <p:cNvSpPr txBox="1"/>
          <p:nvPr/>
        </p:nvSpPr>
        <p:spPr>
          <a:xfrm rot="16200000">
            <a:off x="737653" y="4370834"/>
            <a:ext cx="179335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ENGINEERING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4DE28E5-04B3-882D-F59E-97041852E829}"/>
              </a:ext>
            </a:extLst>
          </p:cNvPr>
          <p:cNvSpPr txBox="1"/>
          <p:nvPr/>
        </p:nvSpPr>
        <p:spPr>
          <a:xfrm rot="16200000">
            <a:off x="1038539" y="2295981"/>
            <a:ext cx="119158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MILITARY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E77995-952A-BE2A-33B6-3CDCDF5E57C4}"/>
              </a:ext>
            </a:extLst>
          </p:cNvPr>
          <p:cNvSpPr txBox="1"/>
          <p:nvPr/>
        </p:nvSpPr>
        <p:spPr>
          <a:xfrm rot="16200000">
            <a:off x="984859" y="1341702"/>
            <a:ext cx="129894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LOGISTICS</a:t>
            </a:r>
          </a:p>
        </p:txBody>
      </p:sp>
    </p:spTree>
    <p:extLst>
      <p:ext uri="{BB962C8B-B14F-4D97-AF65-F5344CB8AC3E}">
        <p14:creationId xmlns:p14="http://schemas.microsoft.com/office/powerpoint/2010/main" val="33918934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3751</TotalTime>
  <Words>203</Words>
  <Application>Microsoft Office PowerPoint</Application>
  <PresentationFormat>Widescreen</PresentationFormat>
  <Paragraphs>59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Aptos</vt:lpstr>
      <vt:lpstr>Aptos Display</vt:lpstr>
      <vt:lpstr>Arial</vt:lpstr>
      <vt:lpstr>Vinque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Mike Richardson</dc:creator>
  <cp:lastModifiedBy>Mike Richardson</cp:lastModifiedBy>
  <cp:revision>11</cp:revision>
  <dcterms:created xsi:type="dcterms:W3CDTF">2026-06-11T07:23:53Z</dcterms:created>
  <dcterms:modified xsi:type="dcterms:W3CDTF">2026-06-17T10:42:41Z</dcterms:modified>
</cp:coreProperties>
</file>